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779270"/>
            <a:ext cx="9144000" cy="1226185"/>
          </a:xfrm>
        </p:spPr>
        <p:txBody>
          <a:bodyPr>
            <a:noAutofit/>
          </a:bodyPr>
          <a:p>
            <a:r>
              <a:rPr lang="en-US" altLang="zh-CN" b="1">
                <a:sym typeface="+mn-ea"/>
              </a:rPr>
              <a:t>Applications &amp; Conclusion</a:t>
            </a:r>
            <a:endParaRPr lang="en-US" altLang="zh-CN" b="1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608330"/>
          </a:xfrm>
        </p:spPr>
        <p:txBody>
          <a:bodyPr/>
          <a:p>
            <a:r>
              <a:rPr lang="en-US" altLang="zh-CN" sz="3200">
                <a:sym typeface="+mn-ea"/>
              </a:rPr>
              <a:t>A Look at Its Legacy and Modern Influence</a:t>
            </a:r>
            <a:endParaRPr lang="en-US" altLang="zh-CN" sz="320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 b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Historical Use Cases: A Pioneer in GUI and Beyond</a:t>
            </a:r>
            <a:endParaRPr lang="en-US" altLang="en-US" sz="3200" b="1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16075"/>
            <a:ext cx="4999990" cy="264731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sz="2700" b="1">
                <a:solidFill>
                  <a:srgbClr val="5F7464"/>
                </a:solidFill>
                <a:latin typeface="Poppins"/>
                <a:ea typeface="Poppins"/>
                <a:cs typeface="Poppins"/>
                <a:sym typeface="Poppins"/>
              </a:rPr>
              <a:t>The Cradle of Graphical User Interfaces (GUI)</a:t>
            </a:r>
            <a:endParaRPr lang="en-US" sz="2700"/>
          </a:p>
          <a:p>
            <a:pPr marL="0" indent="0">
              <a:buNone/>
            </a:pPr>
            <a:r>
              <a:rPr lang="en-US" sz="2200" b="1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Xerox Alto/Star: </a:t>
            </a:r>
            <a:r>
              <a:rPr lang="en-US" sz="2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In the 1970s, Smalltalk pioneered overlapping windows, pull-down menus, and the desktop metaphor.</a:t>
            </a:r>
            <a:endParaRPr lang="en-US" sz="2200"/>
          </a:p>
          <a:p>
            <a:pPr marL="0" indent="0">
              <a:buNone/>
            </a:pPr>
            <a:r>
              <a:rPr lang="en-US" sz="2200" b="1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Foundation of Modern OS:</a:t>
            </a:r>
            <a:r>
              <a:rPr lang="en-US" sz="2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Heavily influenced the design of macOS, Windows, and Linux desktops.</a:t>
            </a:r>
            <a:endParaRPr lang="en-US" altLang="en-US" sz="220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38200" y="4263390"/>
            <a:ext cx="4999990" cy="26473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>
                <a:solidFill>
                  <a:srgbClr val="5F7464"/>
                </a:solidFill>
                <a:latin typeface="Poppins"/>
                <a:ea typeface="Poppins"/>
                <a:cs typeface="Poppins"/>
                <a:sym typeface="Poppins"/>
              </a:rPr>
              <a:t>Early Applications in Finance &amp; Research</a:t>
            </a:r>
            <a:endParaRPr lang="en-US" sz="2700"/>
          </a:p>
          <a:p>
            <a:pPr marL="0" indent="0">
              <a:buNone/>
            </a:pPr>
            <a:r>
              <a:rPr lang="en-US" sz="2200" b="1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Xerox Alto/Star: </a:t>
            </a:r>
            <a:r>
              <a:rPr lang="en-US" sz="2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In the 1970s, Smalltalk pioneered overlapping windows, pull-down menus, and the desktop metaphor.</a:t>
            </a:r>
            <a:endParaRPr lang="en-US" sz="2200"/>
          </a:p>
          <a:p>
            <a:pPr marL="0" indent="0">
              <a:buNone/>
            </a:pPr>
            <a:r>
              <a:rPr lang="en-US" sz="2200" b="1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Foundation of Modern OS: </a:t>
            </a:r>
            <a:r>
              <a:rPr lang="en-US" sz="22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Heavily influenced the design of macOS, Windows, and Linux desktops.</a:t>
            </a:r>
            <a:endParaRPr lang="en-US" altLang="en-US" sz="22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6155" y="1691005"/>
            <a:ext cx="3271520" cy="4659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 b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Modern Niche Uses: A Small but Active Community</a:t>
            </a:r>
            <a:endParaRPr lang="en-US" altLang="en-US" sz="3200" b="1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25" y="1788795"/>
            <a:ext cx="4867275" cy="2389505"/>
          </a:xfrm>
        </p:spPr>
        <p:txBody>
          <a:bodyPr>
            <a:normAutofit fontScale="50000"/>
          </a:bodyPr>
          <a:p>
            <a:pPr marL="0" indent="0">
              <a:buNone/>
            </a:pPr>
            <a:r>
              <a:rPr lang="en-US" sz="4800" b="1">
                <a:solidFill>
                  <a:srgbClr val="5F7464"/>
                </a:solidFill>
                <a:latin typeface="Poppins"/>
                <a:ea typeface="Poppins"/>
                <a:cs typeface="Poppins"/>
                <a:sym typeface="Poppins"/>
              </a:rPr>
              <a:t>A Niche but Active Ecosystem</a:t>
            </a:r>
            <a:endParaRPr lang="en-US" sz="4800" b="1">
              <a:solidFill>
                <a:srgbClr val="5F746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indent="0">
              <a:buNone/>
            </a:pPr>
            <a:r>
              <a:rPr lang="en-US" sz="4000" b="1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Squeak/Pharo: </a:t>
            </a:r>
            <a:r>
              <a:rPr lang="en-US" sz="40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Modern dialects actively maintained, ideal for education and rapid prototyping.</a:t>
            </a:r>
            <a:endParaRPr lang="en-US" sz="4000">
              <a:solidFill>
                <a:srgbClr val="5555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indent="0">
              <a:buNone/>
            </a:pPr>
            <a:r>
              <a:rPr lang="en-US" sz="4000" b="1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Seaside: </a:t>
            </a:r>
            <a:r>
              <a:rPr lang="en-US" sz="40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A powerful Smalltalk web framework for building highly interactive web apps.</a:t>
            </a:r>
            <a:endParaRPr lang="en-US" sz="4000" b="0" i="0" u="none" strike="noStrike">
              <a:solidFill>
                <a:srgbClr val="5555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indent="0">
              <a:buNone/>
            </a:pPr>
            <a:endParaRPr lang="en-US" altLang="en-US" sz="4000" b="0" i="0" u="none" strike="noStrike">
              <a:solidFill>
                <a:srgbClr val="5555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842125" y="4276725"/>
            <a:ext cx="4867275" cy="2389505"/>
          </a:xfrm>
          <a:prstGeom prst="rect">
            <a:avLst/>
          </a:prstGeom>
        </p:spPr>
        <p:txBody>
          <a:bodyPr vert="horz" lIns="91440" tIns="45720" rIns="91440" bIns="45720" rtlCol="0">
            <a:normAutofit fontScale="5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>
                <a:solidFill>
                  <a:srgbClr val="5F7464"/>
                </a:solidFill>
                <a:latin typeface="Poppins"/>
                <a:ea typeface="Poppins"/>
                <a:cs typeface="Poppins"/>
                <a:sym typeface="Poppins"/>
              </a:rPr>
              <a:t>Education &amp; Rapid Prototyping</a:t>
            </a:r>
            <a:endParaRPr lang="en-US" sz="4800"/>
          </a:p>
          <a:p>
            <a:pPr marL="0" indent="0">
              <a:buNone/>
            </a:pPr>
            <a:r>
              <a:rPr lang="en-US" sz="4000" b="1" i="0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Teaching OOP: </a:t>
            </a:r>
            <a:r>
              <a:rPr lang="en-US" altLang="zh-CN" sz="4000" b="0" i="0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A classic, effective tool for demonstrating the pure essence of Object-Oriented Programming.</a:t>
            </a:r>
            <a:endParaRPr lang="en-US" altLang="zh-CN" sz="4000" b="0" i="0" u="none" strike="noStrike">
              <a:solidFill>
                <a:srgbClr val="5555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indent="0">
              <a:buNone/>
            </a:pPr>
            <a:r>
              <a:rPr lang="en-US" sz="4000" b="1" i="0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GUI Development: </a:t>
            </a:r>
            <a:r>
              <a:rPr lang="en-US" altLang="zh-CN" sz="4000" b="0" i="0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Build graphical interfaces and prototypes instantly without complex compilation steps.</a:t>
            </a:r>
            <a:endParaRPr lang="en-US" altLang="zh-CN" sz="4000" b="0" i="0" u="none" strike="noStrike">
              <a:solidFill>
                <a:srgbClr val="5555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indent="0">
              <a:buNone/>
            </a:pPr>
            <a:endParaRPr lang="en-US" altLang="zh-CN" sz="4000" b="0" i="0" u="none" strike="noStrike">
              <a:solidFill>
                <a:srgbClr val="55555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1114425" y="1788795"/>
            <a:ext cx="545782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600" b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Conclusion: The Enduring Legacy of Smalltalk</a:t>
            </a:r>
            <a:endParaRPr lang="en-US" altLang="en-US" sz="3600" b="1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165850" y="1825625"/>
            <a:ext cx="5745480" cy="26663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100" b="1">
                <a:solidFill>
                  <a:srgbClr val="5F7464"/>
                </a:solidFill>
                <a:latin typeface="Poppins"/>
                <a:ea typeface="Poppins"/>
                <a:cs typeface="Poppins"/>
                <a:sym typeface="Poppins"/>
              </a:rPr>
              <a:t>Lessons for Modern Engineering</a:t>
            </a:r>
            <a:endParaRPr lang="en-US" sz="3100"/>
          </a:p>
          <a:p>
            <a:pPr marL="0" indent="0">
              <a:buNone/>
            </a:pPr>
            <a:r>
              <a:rPr lang="en-US" altLang="zh-CN" sz="2700"/>
              <a:t>• A simple, unified mental model yields immense expressive power.</a:t>
            </a:r>
            <a:endParaRPr lang="en-US" altLang="zh-CN" sz="2700"/>
          </a:p>
          <a:p>
            <a:pPr marL="0" indent="0">
              <a:buNone/>
            </a:pPr>
            <a:r>
              <a:rPr lang="en-US" altLang="zh-CN" sz="2700"/>
              <a:t>• Prioritized user experience and system extensibility over raw speed.</a:t>
            </a:r>
            <a:endParaRPr lang="en-US" altLang="zh-CN" sz="2700"/>
          </a:p>
          <a:p>
            <a:pPr marL="0" indent="0">
              <a:buNone/>
            </a:pPr>
            <a:r>
              <a:rPr lang="en-US" altLang="zh-CN" sz="2700"/>
              <a:t>• Pioneered the value of interactive, live development environments (IDEs).</a:t>
            </a:r>
            <a:endParaRPr lang="en-US" altLang="zh-CN" sz="2700"/>
          </a:p>
          <a:p>
            <a:pPr marL="0" indent="0">
              <a:buNone/>
            </a:pPr>
            <a:endParaRPr lang="en-US" altLang="zh-CN" sz="2700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623570" y="1825625"/>
            <a:ext cx="5401310" cy="26663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100" b="1">
                <a:solidFill>
                  <a:srgbClr val="5F7464"/>
                </a:solidFill>
                <a:latin typeface="Poppins"/>
                <a:ea typeface="Poppins"/>
                <a:cs typeface="Poppins"/>
                <a:sym typeface="Poppins"/>
              </a:rPr>
              <a:t>The "Archetype" of OOP</a:t>
            </a:r>
            <a:endParaRPr lang="en-US" sz="3100"/>
          </a:p>
          <a:p>
            <a:pPr marL="0" indent="0">
              <a:buNone/>
            </a:pPr>
            <a:r>
              <a:rPr lang="en-US" sz="27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Smalltalk defined the revolutionary "everything is an object" paradigm and the message-passing model. Its design directly influenced the architecture of modern languages like Objective-C, Ruby, and Python.</a:t>
            </a:r>
            <a:endParaRPr lang="en-US" sz="2700"/>
          </a:p>
          <a:p>
            <a:pPr marL="0" indent="0">
              <a:buNone/>
            </a:pPr>
            <a:endParaRPr lang="en-US" altLang="en-US" sz="2700"/>
          </a:p>
        </p:txBody>
      </p:sp>
      <p:sp>
        <p:nvSpPr>
          <p:cNvPr id="12" name="AutoShape 12"/>
          <p:cNvSpPr/>
          <p:nvPr/>
        </p:nvSpPr>
        <p:spPr>
          <a:xfrm>
            <a:off x="623570" y="4895215"/>
            <a:ext cx="11176000" cy="1651000"/>
          </a:xfrm>
          <a:prstGeom prst="roundRect">
            <a:avLst>
              <a:gd name="adj" fmla="val 12307"/>
            </a:avLst>
          </a:prstGeom>
          <a:solidFill>
            <a:srgbClr val="5F7464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Smalltalk's True Legacy</a:t>
            </a:r>
            <a:endParaRPr lang="en-US" sz="28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sz="2000">
                <a:solidFill>
                  <a:srgbClr val="F0F5F2"/>
                </a:solidFill>
                <a:latin typeface="Poppins"/>
                <a:ea typeface="Poppins"/>
                <a:cs typeface="Poppins"/>
                <a:sym typeface="Poppins"/>
              </a:rPr>
              <a:t>It lies not in its past market share, but in the fundamental, elegant ideas it introduced to the world of programming—ideas that continue to shape how we build software today.</a:t>
            </a:r>
            <a:endParaRPr lang="en-US" sz="2000"/>
          </a:p>
          <a:p>
            <a:pPr indent="0" algn="ctr">
              <a:lnSpc>
                <a:spcPct val="125000"/>
              </a:lnSpc>
              <a:defRPr/>
            </a:pP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1813</Words>
  <Application>WPS 演示</Application>
  <PresentationFormat>宽屏</PresentationFormat>
  <Paragraphs>42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Poppins</vt:lpstr>
      <vt:lpstr>Segoe Print</vt:lpstr>
      <vt:lpstr>Calibri</vt:lpstr>
      <vt:lpstr>微软雅黑</vt:lpstr>
      <vt:lpstr>Arial Unicode MS</vt:lpstr>
      <vt:lpstr>WPS</vt:lpstr>
      <vt:lpstr>Smalltalk: Applications &amp; Conclusion</vt:lpstr>
      <vt:lpstr>Historical Use Cases: A Pioneer in GUI and Beyond</vt:lpstr>
      <vt:lpstr>Modern Niche Uses: A Small but Active Community</vt:lpstr>
      <vt:lpstr>Conclusion: The Enduring Legacy of Smalltalk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15484</dc:creator>
  <cp:lastModifiedBy>WUHuuuus.</cp:lastModifiedBy>
  <cp:revision>6</cp:revision>
  <dcterms:created xsi:type="dcterms:W3CDTF">2023-08-09T12:44:00Z</dcterms:created>
  <dcterms:modified xsi:type="dcterms:W3CDTF">2026-04-21T08:48:11Z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83DD5E5AF6EC453EAD06E20C826F1956_12</vt:lpwstr>
  </property>
</Properties>
</file>