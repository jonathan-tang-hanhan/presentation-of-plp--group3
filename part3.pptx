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handoutMasterIdLst>
    <p:handoutMasterId r:id="rId9"/>
  </p:handoutMasterIdLst>
  <p:sldIdLst>
    <p:sldId id="256" r:id="rId3"/>
    <p:sldId id="258" r:id="rId4"/>
    <p:sldId id="257" r:id="rId5"/>
    <p:sldId id="259" r:id="rId6"/>
    <p:sldId id="260"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handoutMaster" Target="handoutMasters/handoutMaster1.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6.xml"/><Relationship Id="rId1" Type="http://schemas.openxmlformats.org/officeDocument/2006/relationships/tags" Target="../tags/tag7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en-US" altLang="zh-CN"/>
              <a:t>Experience&amp;Demo</a:t>
            </a:r>
            <a:endParaRPr lang="en-US" altLang="zh-CN"/>
          </a:p>
        </p:txBody>
      </p:sp>
      <p:sp>
        <p:nvSpPr>
          <p:cNvPr id="3" name="副标题 2"/>
          <p:cNvSpPr>
            <a:spLocks noGrp="1"/>
          </p:cNvSpPr>
          <p:nvPr>
            <p:ph type="subTitle" idx="1"/>
            <p:custDataLst>
              <p:tags r:id="rId2"/>
            </p:custDataLst>
          </p:nvPr>
        </p:nvSpPr>
        <p:spPr/>
        <p:txBody>
          <a:bodyPr/>
          <a:p>
            <a:endParaRPr lang="zh-CN" alt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custDataLst>
              <p:tags r:id="rId1"/>
            </p:custDataLst>
          </p:nvPr>
        </p:nvSpPr>
        <p:spPr>
          <a:xfrm>
            <a:off x="608330" y="835660"/>
            <a:ext cx="10968990" cy="5506720"/>
          </a:xfrm>
        </p:spPr>
        <p:txBody>
          <a:bodyPr>
            <a:normAutofit fontScale="25000"/>
          </a:bodyPr>
          <a:p>
            <a:pPr marL="0" indent="0">
              <a:buNone/>
            </a:pPr>
            <a:r>
              <a:rPr lang="en-US" altLang="zh-CN" sz="7500">
                <a:solidFill>
                  <a:schemeClr val="tx1"/>
                </a:solidFill>
              </a:rPr>
              <a:t>Key Gains：</a:t>
            </a:r>
            <a:endParaRPr lang="en-US" altLang="zh-CN" sz="7500">
              <a:solidFill>
                <a:schemeClr val="tx1"/>
              </a:solidFill>
            </a:endParaRPr>
          </a:p>
          <a:p>
            <a:pPr lvl="0"/>
            <a:r>
              <a:rPr lang="en-US" altLang="zh-CN" sz="7500">
                <a:solidFill>
                  <a:schemeClr val="tx1"/>
                </a:solidFill>
              </a:rPr>
              <a:t>Real-time interactive development mode: In modern languages, code needs to be saved after modification to take effect. Compared to the complexity of modern languages, the modified code in Squeak takes effect immediately upon running.</a:t>
            </a:r>
            <a:r>
              <a:rPr lang="zh-CN" altLang="en-US" sz="7500">
                <a:solidFill>
                  <a:schemeClr val="tx1"/>
                </a:solidFill>
              </a:rPr>
              <a:t>（</a:t>
            </a:r>
            <a:r>
              <a:rPr lang="en-US" altLang="zh-CN" sz="7500">
                <a:sym typeface="+mn-ea"/>
              </a:rPr>
              <a:t>Maloney</a:t>
            </a:r>
            <a:r>
              <a:rPr lang="zh-CN" altLang="en-US" sz="7500">
                <a:sym typeface="+mn-ea"/>
              </a:rPr>
              <a:t>，</a:t>
            </a:r>
            <a:r>
              <a:rPr lang="en-US" altLang="zh-CN" sz="7500">
                <a:sym typeface="+mn-ea"/>
              </a:rPr>
              <a:t>1995</a:t>
            </a:r>
            <a:r>
              <a:rPr lang="zh-CN" altLang="en-US" sz="7500">
                <a:solidFill>
                  <a:schemeClr val="tx1"/>
                </a:solidFill>
              </a:rPr>
              <a:t>）</a:t>
            </a:r>
            <a:endParaRPr lang="en-US" altLang="zh-CN" sz="7500">
              <a:solidFill>
                <a:schemeClr val="tx1"/>
              </a:solidFill>
            </a:endParaRPr>
          </a:p>
          <a:p>
            <a:pPr lvl="0"/>
            <a:endParaRPr lang="en-US" altLang="zh-CN" sz="7500">
              <a:solidFill>
                <a:schemeClr val="tx1"/>
              </a:solidFill>
            </a:endParaRPr>
          </a:p>
          <a:p>
            <a:pPr lvl="0"/>
            <a:r>
              <a:rPr lang="en-US" altLang="zh-CN" sz="7500">
                <a:solidFill>
                  <a:schemeClr val="tx1"/>
                </a:solidFill>
              </a:rPr>
              <a:t>Transparent underlying logic: In Squeak, the logic of almost all underlying functions is public and modifiable. This enables us to shift from being mere code users to individuals who can understand the operational logic of the system at the architectural level.</a:t>
            </a:r>
            <a:endParaRPr lang="en-US" altLang="zh-CN" sz="7500">
              <a:solidFill>
                <a:schemeClr val="tx1"/>
              </a:solidFill>
            </a:endParaRPr>
          </a:p>
          <a:p>
            <a:pPr lvl="0"/>
            <a:endParaRPr lang="en-US" altLang="zh-CN" sz="7500">
              <a:solidFill>
                <a:schemeClr val="tx1"/>
              </a:solidFill>
            </a:endParaRPr>
          </a:p>
          <a:p>
            <a:pPr lvl="0"/>
            <a:r>
              <a:rPr lang="en-US" altLang="zh-CN" sz="7500">
                <a:solidFill>
                  <a:schemeClr val="tx1"/>
                </a:solidFill>
              </a:rPr>
              <a:t>Unified logical framework: Smalltalk abandoned the privileged syntax such as "if" and unified all common operations as message passing between objects.(Ingalls, 1981)</a:t>
            </a:r>
            <a:endParaRPr lang="en-US" altLang="zh-CN" sz="7500">
              <a:solidFill>
                <a:schemeClr val="tx1"/>
              </a:solidFill>
            </a:endParaRPr>
          </a:p>
          <a:p>
            <a:pPr lvl="0"/>
            <a:endParaRPr lang="en-US" altLang="zh-CN">
              <a:solidFill>
                <a:schemeClr val="tx1"/>
              </a:solidFill>
            </a:endParaRPr>
          </a:p>
          <a:p>
            <a:pPr lvl="0"/>
            <a:endParaRPr lang="en-US" altLang="zh-CN">
              <a:solidFill>
                <a:schemeClr val="tx1"/>
              </a:solidFill>
            </a:endParaRPr>
          </a:p>
          <a:p>
            <a:pPr lvl="0"/>
            <a:endParaRPr lang="en-US" altLang="zh-CN">
              <a:solidFill>
                <a:schemeClr val="tx1"/>
              </a:solidFill>
            </a:endParaRPr>
          </a:p>
        </p:txBody>
      </p:sp>
      <p:sp>
        <p:nvSpPr>
          <p:cNvPr id="4" name="标题 3"/>
          <p:cNvSpPr>
            <a:spLocks noGrp="1"/>
          </p:cNvSpPr>
          <p:nvPr>
            <p:ph type="title"/>
            <p:custDataLst>
              <p:tags r:id="rId2"/>
            </p:custDataLst>
          </p:nvPr>
        </p:nvSpPr>
        <p:spPr>
          <a:xfrm>
            <a:off x="608330" y="196215"/>
            <a:ext cx="10968990" cy="798830"/>
          </a:xfrm>
        </p:spPr>
        <p:txBody>
          <a:bodyPr/>
          <a:p>
            <a:r>
              <a:rPr lang="en-US" altLang="zh-CN"/>
              <a:t>Learning Journey</a:t>
            </a:r>
            <a:endParaRPr lang="en-US" altLang="zh-CN"/>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316300"/>
            <a:ext cx="10969200" cy="705600"/>
          </a:xfrm>
        </p:spPr>
        <p:txBody>
          <a:bodyPr/>
          <a:p>
            <a:r>
              <a:rPr lang="en-US" altLang="zh-CN"/>
              <a:t>Learning Journey</a:t>
            </a:r>
            <a:endParaRPr lang="en-US" altLang="zh-CN"/>
          </a:p>
        </p:txBody>
      </p:sp>
      <p:sp>
        <p:nvSpPr>
          <p:cNvPr id="3" name="内容占位符 2"/>
          <p:cNvSpPr>
            <a:spLocks noGrp="1"/>
          </p:cNvSpPr>
          <p:nvPr>
            <p:ph idx="1"/>
            <p:custDataLst>
              <p:tags r:id="rId2"/>
            </p:custDataLst>
          </p:nvPr>
        </p:nvSpPr>
        <p:spPr>
          <a:xfrm>
            <a:off x="608330" y="1132205"/>
            <a:ext cx="10968990" cy="5117465"/>
          </a:xfrm>
        </p:spPr>
        <p:txBody>
          <a:bodyPr>
            <a:normAutofit fontScale="25000"/>
          </a:bodyPr>
          <a:p>
            <a:pPr marL="0" indent="0">
              <a:buNone/>
            </a:pPr>
            <a:r>
              <a:rPr lang="en-US" altLang="zh-CN" sz="7500">
                <a:solidFill>
                  <a:schemeClr val="tx1"/>
                </a:solidFill>
              </a:rPr>
              <a:t>challenge:</a:t>
            </a:r>
            <a:endParaRPr lang="en-US" altLang="zh-CN" sz="7500">
              <a:solidFill>
                <a:schemeClr val="tx1"/>
              </a:solidFill>
            </a:endParaRPr>
          </a:p>
          <a:p>
            <a:r>
              <a:rPr lang="en-US" altLang="zh-CN" sz="7500">
                <a:solidFill>
                  <a:schemeClr val="tx1"/>
                </a:solidFill>
              </a:rPr>
              <a:t>Grammatical paradigm:Unlike in Python/Java where function calls are made without colons, in Smalltalk, keyword information must be preceded by a colon.</a:t>
            </a:r>
            <a:endParaRPr lang="en-US" altLang="zh-CN" sz="7500">
              <a:solidFill>
                <a:schemeClr val="tx1"/>
              </a:solidFill>
            </a:endParaRPr>
          </a:p>
          <a:p>
            <a:endParaRPr lang="en-US" altLang="zh-CN" sz="7500">
              <a:solidFill>
                <a:schemeClr val="tx1"/>
              </a:solidFill>
            </a:endParaRPr>
          </a:p>
          <a:p>
            <a:r>
              <a:rPr lang="en-US" altLang="zh-CN" sz="7500">
                <a:solidFill>
                  <a:schemeClr val="tx1"/>
                </a:solidFill>
              </a:rPr>
              <a:t>Interaction logic: Squeak does not have a traditional taskbar of an operating system. Instead, one needs to select tools through the World Menu (such as WorkPlace, Transcript, etc.). This is quite different from modern UI design.</a:t>
            </a:r>
            <a:endParaRPr lang="en-US" altLang="zh-CN" sz="7500">
              <a:solidFill>
                <a:schemeClr val="tx1"/>
              </a:solidFill>
            </a:endParaRPr>
          </a:p>
          <a:p>
            <a:endParaRPr lang="en-US" altLang="zh-CN" sz="7500">
              <a:solidFill>
                <a:schemeClr val="tx1"/>
              </a:solidFill>
            </a:endParaRPr>
          </a:p>
          <a:p>
            <a:r>
              <a:rPr lang="en-US" altLang="zh-CN" sz="7500">
                <a:solidFill>
                  <a:schemeClr val="tx1"/>
                </a:solidFill>
              </a:rPr>
              <a:t>Paradigm shift: The source code of Python is stored in external files. After exiting, the memory will be cleared. In the Smalltalk code and object fire mirror, the variables and window states will also be retained when exiting.(Ingalls, 1981)</a:t>
            </a:r>
            <a:endParaRPr lang="en-US" altLang="zh-CN" sz="7500">
              <a:solidFill>
                <a:schemeClr val="tx1"/>
              </a:solidFill>
            </a:endParaRPr>
          </a:p>
          <a:p>
            <a:endParaRPr lang="en-US" altLang="zh-CN">
              <a:solidFill>
                <a:schemeClr val="tx1"/>
              </a:solidFill>
            </a:endParaRPr>
          </a:p>
          <a:p>
            <a:pPr marL="0" indent="0">
              <a:buNone/>
            </a:pPr>
            <a:endParaRPr lang="en-US" altLang="zh-CN">
              <a:solidFill>
                <a:schemeClr val="tx1"/>
              </a:solidFill>
            </a:endParaRPr>
          </a:p>
          <a:p>
            <a:pPr marL="0" indent="0">
              <a:buNone/>
            </a:pPr>
            <a:endParaRPr lang="en-US" altLang="zh-CN">
              <a:solidFill>
                <a:schemeClr val="tx1"/>
              </a:solidFill>
            </a:endParaRPr>
          </a:p>
          <a:p>
            <a:endParaRPr lang="en-US" altLang="zh-CN">
              <a:solidFill>
                <a:schemeClr val="tx1"/>
              </a:solidFill>
            </a:endParaRPr>
          </a:p>
          <a:p>
            <a:endParaRPr lang="en-US" altLang="zh-CN">
              <a:solidFill>
                <a:schemeClr val="tx1"/>
              </a:solidFill>
            </a:endParaRPr>
          </a:p>
          <a:p>
            <a:endParaRPr lang="en-US" altLang="zh-CN">
              <a:solidFill>
                <a:schemeClr val="tx1"/>
              </a:solidFill>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515690" y="262960"/>
            <a:ext cx="10969200" cy="705600"/>
          </a:xfrm>
        </p:spPr>
        <p:txBody>
          <a:bodyPr/>
          <a:p>
            <a:r>
              <a:rPr lang="en-US" altLang="zh-CN"/>
              <a:t>Core Tools &amp; Compilation Mechanism</a:t>
            </a:r>
            <a:endParaRPr lang="en-US" altLang="zh-CN"/>
          </a:p>
        </p:txBody>
      </p:sp>
      <p:sp>
        <p:nvSpPr>
          <p:cNvPr id="3" name="内容占位符 2"/>
          <p:cNvSpPr>
            <a:spLocks noGrp="1"/>
          </p:cNvSpPr>
          <p:nvPr>
            <p:ph idx="1"/>
            <p:custDataLst>
              <p:tags r:id="rId2"/>
            </p:custDataLst>
          </p:nvPr>
        </p:nvSpPr>
        <p:spPr>
          <a:xfrm>
            <a:off x="608330" y="839470"/>
            <a:ext cx="10968990" cy="6018530"/>
          </a:xfrm>
        </p:spPr>
        <p:txBody>
          <a:bodyPr>
            <a:normAutofit lnSpcReduction="20000"/>
          </a:bodyPr>
          <a:p>
            <a:pPr marL="0" indent="0">
              <a:lnSpc>
                <a:spcPct val="125000"/>
              </a:lnSpc>
              <a:buNone/>
            </a:pPr>
            <a:r>
              <a:rPr lang="en-US" altLang="zh-CN"/>
              <a:t>Running Pillar: Mirroring and Virtual Machines</a:t>
            </a:r>
            <a:endParaRPr lang="en-US" altLang="zh-CN"/>
          </a:p>
          <a:p>
            <a:pPr>
              <a:lnSpc>
                <a:spcPct val="125000"/>
              </a:lnSpc>
            </a:pPr>
            <a:r>
              <a:rPr lang="en-US" altLang="zh-CN"/>
              <a:t>Virtual machine: Acts as an intermediary between code and hardware(Ingalls et al., 1997)</a:t>
            </a:r>
            <a:endParaRPr lang="en-US" altLang="zh-CN"/>
          </a:p>
          <a:p>
            <a:pPr>
              <a:lnSpc>
                <a:spcPct val="125000"/>
              </a:lnSpc>
            </a:pPr>
            <a:r>
              <a:rPr lang="en-US" altLang="zh-CN"/>
              <a:t>image: The core feature of Smalltalk is that it retains all objects, code, and the layout of the current window.(Ingalls et al., 1997)  </a:t>
            </a:r>
            <a:endParaRPr lang="en-US" altLang="zh-CN"/>
          </a:p>
          <a:p>
            <a:pPr marL="0" indent="0">
              <a:lnSpc>
                <a:spcPct val="125000"/>
              </a:lnSpc>
              <a:buNone/>
            </a:pPr>
            <a:r>
              <a:rPr lang="en-US" altLang="zh-CN"/>
              <a:t>Three interactions</a:t>
            </a:r>
            <a:endParaRPr lang="en-US" altLang="zh-CN"/>
          </a:p>
          <a:p>
            <a:pPr>
              <a:lnSpc>
                <a:spcPct val="125000"/>
              </a:lnSpc>
            </a:pPr>
            <a:r>
              <a:rPr lang="en-US" altLang="zh-CN"/>
              <a:t>Workspace</a:t>
            </a:r>
            <a:r>
              <a:rPr lang="zh-CN" altLang="en-US"/>
              <a:t>：</a:t>
            </a:r>
            <a:r>
              <a:rPr lang="en-US" altLang="zh-CN"/>
              <a:t>The draft notebook for the code. The code that is intended to be run is written on it.</a:t>
            </a:r>
            <a:endParaRPr lang="en-US" altLang="zh-CN"/>
          </a:p>
          <a:p>
            <a:pPr>
              <a:lnSpc>
                <a:spcPct val="125000"/>
              </a:lnSpc>
            </a:pPr>
            <a:r>
              <a:rPr lang="en-US" altLang="zh-CN"/>
              <a:t>Transcript</a:t>
            </a:r>
            <a:r>
              <a:rPr lang="zh-CN" altLang="en-US"/>
              <a:t>：</a:t>
            </a:r>
            <a:r>
              <a:rPr lang="en-US" altLang="zh-CN"/>
              <a:t>It is terminal, the place where the code results are displayed. However, in Smalltalk, it is a movable window.</a:t>
            </a:r>
            <a:endParaRPr lang="en-US" altLang="zh-CN"/>
          </a:p>
          <a:p>
            <a:pPr>
              <a:lnSpc>
                <a:spcPct val="125000"/>
              </a:lnSpc>
            </a:pPr>
            <a:r>
              <a:rPr lang="en-US" altLang="zh-CN"/>
              <a:t>System Browser </a:t>
            </a:r>
            <a:r>
              <a:rPr lang="zh-CN" altLang="en-US"/>
              <a:t>：</a:t>
            </a:r>
            <a:r>
              <a:rPr lang="en-US" altLang="zh-CN"/>
              <a:t>It provides a unified logical view of all the codes within the system, allowing us to no longer interrupt the continuity of our thinking by searching through scattered physical storage.</a:t>
            </a:r>
            <a:endParaRPr lang="en-US" altLang="zh-CN"/>
          </a:p>
          <a:p>
            <a:pPr marL="0" indent="0">
              <a:lnSpc>
                <a:spcPct val="125000"/>
              </a:lnSpc>
              <a:buNone/>
            </a:pPr>
            <a:r>
              <a:rPr lang="en-US" altLang="zh-CN">
                <a:sym typeface="+mn-ea"/>
              </a:rPr>
              <a:t>Incremental Compilation</a:t>
            </a:r>
            <a:endParaRPr lang="en-US" altLang="zh-CN"/>
          </a:p>
          <a:p>
            <a:pPr>
              <a:lnSpc>
                <a:spcPct val="125000"/>
              </a:lnSpc>
            </a:pPr>
            <a:r>
              <a:rPr lang="en-US" altLang="zh-CN">
                <a:sym typeface="+mn-ea"/>
              </a:rPr>
              <a:t>Let's directly perform real-time logical reconfiguration on the entire living system without interrupting the running state of the program.</a:t>
            </a:r>
            <a:r>
              <a:rPr lang="zh-CN" altLang="en-US">
                <a:sym typeface="+mn-ea"/>
              </a:rPr>
              <a:t>（</a:t>
            </a:r>
            <a:r>
              <a:rPr lang="en-US" altLang="zh-CN">
                <a:sym typeface="+mn-ea"/>
              </a:rPr>
              <a:t>Deutsch</a:t>
            </a:r>
            <a:r>
              <a:rPr lang="zh-CN" altLang="en-US">
                <a:sym typeface="+mn-ea"/>
              </a:rPr>
              <a:t>，</a:t>
            </a:r>
            <a:r>
              <a:rPr lang="en-US" altLang="zh-CN">
                <a:sym typeface="+mn-ea"/>
              </a:rPr>
              <a:t>1984</a:t>
            </a:r>
            <a:r>
              <a:rPr lang="zh-CN" altLang="en-US">
                <a:sym typeface="+mn-ea"/>
              </a:rPr>
              <a:t>）</a:t>
            </a:r>
            <a:endParaRPr lang="en-US" altLang="zh-CN"/>
          </a:p>
          <a:p>
            <a:pPr>
              <a:lnSpc>
                <a:spcPct val="125000"/>
              </a:lnSpc>
            </a:pPr>
            <a:endParaRPr lang="en-US" altLang="zh-CN"/>
          </a:p>
          <a:p>
            <a:endParaRPr lang="en-US" altLang="zh-CN"/>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custDataLst>
              <p:tags r:id="rId1"/>
            </p:custDataLst>
          </p:nvPr>
        </p:nvSpPr>
        <p:spPr>
          <a:xfrm>
            <a:off x="608330" y="760730"/>
            <a:ext cx="10968990" cy="5488940"/>
          </a:xfrm>
        </p:spPr>
        <p:txBody>
          <a:bodyPr>
            <a:normAutofit lnSpcReduction="10000"/>
          </a:bodyPr>
          <a:p>
            <a:r>
              <a:rPr lang="en-US" altLang="zh-CN"/>
              <a:t>Ingalls, D., Kaehler, T., Maloney, J., Wallace, S. and Kay, A. (1997) 'Back to the future: the story of Squeak, a practical Smalltalk written in itself', ACM SIGPLAN Notices, 32(10), pp. 318–326. doi: 10.1145/263700.263754.</a:t>
            </a:r>
            <a:endParaRPr lang="en-US" altLang="zh-CN"/>
          </a:p>
          <a:p>
            <a:r>
              <a:rPr lang="en-US" altLang="zh-CN"/>
              <a:t>Ingalls, D.H.H. (1981) 'Design principles behind Smalltalk', Byte, 6(8), pp. 286–298.Avaliable at </a:t>
            </a:r>
            <a:r>
              <a:rPr lang="zh-CN" altLang="en-US"/>
              <a:t>：</a:t>
            </a:r>
            <a:r>
              <a:rPr lang="en-US" altLang="zh-CN"/>
              <a:t>https://worrydream.com/refs/Ingalls_1981_-_Design_Principles_Behind_Smalltalk.pdf </a:t>
            </a:r>
            <a:endParaRPr lang="en-US" altLang="zh-CN"/>
          </a:p>
          <a:p>
            <a:r>
              <a:rPr lang="en-US" altLang="zh-CN"/>
              <a:t>Maloney, J.H. and Smith, R.B. (1995) 'Directness and liveness in the morphic user interface construction environment', Proceedings of the 8th annual ACM symposium on User interface and software technology (UIST '95). pp. 21–28. doi: 10.1145/215585.215636.</a:t>
            </a:r>
            <a:endParaRPr lang="en-US" altLang="zh-CN"/>
          </a:p>
          <a:p>
            <a:r>
              <a:rPr lang="en-US" altLang="zh-CN"/>
              <a:t>Deutsch, L.P. and Schiffman, A.M. (1984) 'Efficient implementation of the Smalltalk-80 system', Proceedings of the 11th ACM SIGACT-SIGPLAN symposium on Principles of programming languages. New York: Association for Computing Machinery, pp. 297–302. doi: 10.1145/800017.800542.</a:t>
            </a:r>
            <a:endParaRPr lang="en-US" altLang="zh-CN"/>
          </a:p>
          <a:p>
            <a:endParaRPr lang="en-US" altLang="zh-CN"/>
          </a:p>
          <a:p>
            <a:endParaRPr lang="en-US" altLang="zh-CN"/>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3214</Words>
  <Application>WPS 演示</Application>
  <PresentationFormat>宽屏</PresentationFormat>
  <Paragraphs>50</Paragraphs>
  <Slides>5</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vt:i4>
      </vt:variant>
    </vt:vector>
  </HeadingPairs>
  <TitlesOfParts>
    <vt:vector size="13" baseType="lpstr">
      <vt:lpstr>Arial</vt:lpstr>
      <vt:lpstr>宋体</vt:lpstr>
      <vt:lpstr>Wingdings</vt:lpstr>
      <vt:lpstr>Wingdings</vt:lpstr>
      <vt:lpstr>微软雅黑</vt:lpstr>
      <vt:lpstr>Arial Unicode MS</vt:lpstr>
      <vt:lpstr>Calibri</vt:lpstr>
      <vt:lpstr>WPS</vt:lpstr>
      <vt:lpstr>PowerPoint 演示文稿</vt:lpstr>
      <vt:lpstr>Learning Journey</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Lesley</cp:lastModifiedBy>
  <cp:revision>157</cp:revision>
  <dcterms:created xsi:type="dcterms:W3CDTF">2019-06-19T02:08:00Z</dcterms:created>
  <dcterms:modified xsi:type="dcterms:W3CDTF">2026-04-21T12:15:53Z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996364BD798E4A59AC875D718A181388_11</vt:lpwstr>
  </property>
</Properties>
</file>