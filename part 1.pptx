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1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66" y="2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5B3D60-C701-4E9C-A660-47A9E8A5493C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E09D94-D8CD-4347-9CDC-FF009925CA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563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C8073-8972-7159-E769-369AF3FA35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0D34D64-B820-E73A-9C9D-5B4880D1BF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905039-553C-63C3-1DDA-D18302D66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3CC3B-7192-4C4F-95D3-2B43205CCEA7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D1F490-87F2-E3F1-09FD-B149CD4CF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3EB64F-6279-EA74-DA01-0B4253202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198D3-9236-407B-8CEE-758148ED47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791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183B33-B94A-3AE0-45D4-51B2C7F55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B8290B-E1A2-92EB-351E-FDE25EB3B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EC20A6-56DE-E45E-5E4B-D69D60878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3CC3B-7192-4C4F-95D3-2B43205CCEA7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462846-F361-C511-ADDA-18836F903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3D11F5-AA4F-01DF-45D4-BEFEFAEF8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198D3-9236-407B-8CEE-758148ED47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1871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FDA5DB-9795-5AF9-CD08-74CAB1F84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E8657C-7DE3-0F3B-B722-284809425A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2556A1-C40B-53EA-84C8-7F70D0E4C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3CC3B-7192-4C4F-95D3-2B43205CCEA7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3EDCA9-0F6D-BBB0-55A2-1BD6BEDE4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32B8AE-8D24-0027-A561-82F0D5A65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198D3-9236-407B-8CEE-758148ED47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174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960D0C-5C41-7725-0F3D-3BB413ABD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40DC50-58D9-672F-007D-8F86BD9934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A194FC6-2190-B210-49D2-1BCE62D658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D3CCB13-0C49-BE17-27A4-96CC54CA3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3CC3B-7192-4C4F-95D3-2B43205CCEA7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87C166-A811-E3AD-8285-18C2162C3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860921-E375-9638-2E55-495A364D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198D3-9236-407B-8CEE-758148ED47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0016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CDEB67-24BE-E127-7DE1-EAAC632FF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75CE72-EB31-C302-4B43-AFD948844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A10006-631F-D9F3-B6CF-DD43ED63B7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3BBB279-7068-B515-D84A-1C953C17AA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15EB90B-C190-7618-8899-2B2D940B69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BF03C40-B5DF-9487-4EA5-1F3EBF73A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3CC3B-7192-4C4F-95D3-2B43205CCEA7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DA3859A-2A4D-3842-59E9-8BCB24A46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E25E23E-5751-AB12-3A95-D3AF99403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198D3-9236-407B-8CEE-758148ED47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0699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624233-ECCF-8FA9-2B9F-D642197C7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8A926DB-540B-973C-2C29-F22AA03B6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3CC3B-7192-4C4F-95D3-2B43205CCEA7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78811AD-68BB-5A46-4933-C1FC83670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C6F3E72-206B-A020-B74A-77CE90C71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198D3-9236-407B-8CEE-758148ED47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0974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3EE9FCA-E0E4-2382-1EB3-27E7C0A2C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3CC3B-7192-4C4F-95D3-2B43205CCEA7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C707984-4E49-AD9C-12CF-DFE779214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42F3DA-4831-9628-4887-6BBB3F29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198D3-9236-407B-8CEE-758148ED47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1443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9DB7B4-2DB1-98A0-1566-8A73C6300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6A4788-2833-9606-AD58-9E7FEC2CD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BB1D0E-D6BC-DE6C-1557-5130ADE9AE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D4AC5F4-DF59-7249-ACCC-A6F0D7A4B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3CC3B-7192-4C4F-95D3-2B43205CCEA7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4B1913C-2D10-ED95-BCA6-5ACC206F3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BCE8088-EC8C-E7B1-A8BC-F035C46C5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198D3-9236-407B-8CEE-758148ED47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0487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078CDE-FC9E-A0E5-9EAB-F89E4C625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5F17D04-72D9-196A-7844-D12810A7C4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77ABE3A-30D9-E773-A7C7-8BA66083E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EBDD05-309A-F271-CAFC-9175331DC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3CC3B-7192-4C4F-95D3-2B43205CCEA7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3402A9-379A-D92C-6ED1-3E102A85C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81D6973-991D-CADB-FC2D-AF92D9DC7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198D3-9236-407B-8CEE-758148ED47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0833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FFACAF-22F3-DA98-0097-15DD5BD04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4367CE5-CD34-24B9-4BD4-96A1DA5BEF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2DC21F-FDFE-56E7-4342-8A7EB5AC9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3CC3B-7192-4C4F-95D3-2B43205CCEA7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8E599D-F0D1-0DE2-0DF2-9C12AE42E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2F743B-5267-C311-95F7-D1D2B683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198D3-9236-407B-8CEE-758148ED47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1961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63E1EAB-0300-ABBB-5456-49888B01DF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CCAB719-C7BD-332B-DD47-DADD2F972B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25D408-5211-22E2-4343-1C83E5BE0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3CC3B-7192-4C4F-95D3-2B43205CCEA7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E3C627-5958-A527-4D96-C6FCF883A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1C6C1B-02EC-0348-78E9-70300DA43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198D3-9236-407B-8CEE-758148ED47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14231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3133"/>
          </a:solidFill>
          <a:ln/>
        </p:spPr>
      </p:sp>
    </p:spTree>
    <p:extLst>
      <p:ext uri="{BB962C8B-B14F-4D97-AF65-F5344CB8AC3E}">
        <p14:creationId xmlns:p14="http://schemas.microsoft.com/office/powerpoint/2010/main" val="30283030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3133"/>
          </a:solidFill>
          <a:ln/>
        </p:spPr>
      </p:sp>
    </p:spTree>
    <p:extLst>
      <p:ext uri="{BB962C8B-B14F-4D97-AF65-F5344CB8AC3E}">
        <p14:creationId xmlns:p14="http://schemas.microsoft.com/office/powerpoint/2010/main" val="4548823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3133"/>
          </a:solidFill>
          <a:ln/>
        </p:spPr>
      </p:sp>
    </p:spTree>
    <p:extLst>
      <p:ext uri="{BB962C8B-B14F-4D97-AF65-F5344CB8AC3E}">
        <p14:creationId xmlns:p14="http://schemas.microsoft.com/office/powerpoint/2010/main" val="41679684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3133"/>
          </a:solidFill>
          <a:ln/>
        </p:spPr>
      </p:sp>
    </p:spTree>
    <p:extLst>
      <p:ext uri="{BB962C8B-B14F-4D97-AF65-F5344CB8AC3E}">
        <p14:creationId xmlns:p14="http://schemas.microsoft.com/office/powerpoint/2010/main" val="1440759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C2E2A91-138D-1847-AB0B-479FC6A39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EA1282-A43A-B8E8-1D8D-E6178267B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19CAD9-0CA9-E58C-5D83-52B51BDB1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93CC3B-7192-4C4F-95D3-2B43205CCEA7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AE9E27-A0C6-FE75-BFDC-BCA0BB21F5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A5EED4-0A8A-9DF9-C8E1-B509C76216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8198D3-9236-407B-8CEE-758148ED47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3595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2" y="1175445"/>
            <a:ext cx="4725492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8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Smalltalk</a:t>
            </a:r>
            <a:endParaRPr lang="en-US" sz="3708" dirty="0"/>
          </a:p>
        </p:txBody>
      </p:sp>
      <p:sp>
        <p:nvSpPr>
          <p:cNvPr id="3" name="Text 1"/>
          <p:cNvSpPr/>
          <p:nvPr/>
        </p:nvSpPr>
        <p:spPr>
          <a:xfrm>
            <a:off x="661492" y="2049562"/>
            <a:ext cx="10869018" cy="1630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6416"/>
              </a:lnSpc>
            </a:pPr>
            <a:r>
              <a:rPr lang="en-US" sz="5125" b="1" i="1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Language That Shaped Modern Computing</a:t>
            </a:r>
            <a:endParaRPr lang="en-US" sz="5125" dirty="0"/>
          </a:p>
        </p:txBody>
      </p:sp>
      <p:sp>
        <p:nvSpPr>
          <p:cNvPr id="4" name="Shape 2"/>
          <p:cNvSpPr/>
          <p:nvPr/>
        </p:nvSpPr>
        <p:spPr>
          <a:xfrm>
            <a:off x="661492" y="4010621"/>
            <a:ext cx="10869018" cy="14089"/>
          </a:xfrm>
          <a:prstGeom prst="rect">
            <a:avLst/>
          </a:prstGeom>
          <a:solidFill>
            <a:srgbClr val="D6D9D7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61492" y="4284564"/>
            <a:ext cx="108690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Member:</a:t>
            </a:r>
            <a:r>
              <a:rPr lang="zh-CN" altLang="en-US" sz="1458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58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Lesley, Karley, Jonathan, Jiao</a:t>
            </a:r>
            <a:endParaRPr lang="en-US" sz="1458" dirty="0"/>
          </a:p>
        </p:txBody>
      </p:sp>
      <p:sp>
        <p:nvSpPr>
          <p:cNvPr id="6" name="Text 4"/>
          <p:cNvSpPr/>
          <p:nvPr/>
        </p:nvSpPr>
        <p:spPr>
          <a:xfrm>
            <a:off x="661492" y="4799608"/>
            <a:ext cx="108690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Course：CSCU9Y4 — Stirling College, ChengDu University</a:t>
            </a:r>
            <a:endParaRPr lang="en-US" sz="1458" dirty="0"/>
          </a:p>
        </p:txBody>
      </p:sp>
      <p:sp>
        <p:nvSpPr>
          <p:cNvPr id="7" name="Shape 5"/>
          <p:cNvSpPr/>
          <p:nvPr/>
        </p:nvSpPr>
        <p:spPr>
          <a:xfrm>
            <a:off x="10938967" y="5314653"/>
            <a:ext cx="591543" cy="367903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AC9E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58724" y="5377657"/>
            <a:ext cx="352028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167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/ 15</a:t>
            </a:r>
            <a:endParaRPr lang="en-US" sz="116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81698" y="760810"/>
            <a:ext cx="502860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625"/>
              </a:lnSpc>
            </a:pPr>
            <a:r>
              <a:rPr lang="en-US" sz="3708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Presentation Overview</a:t>
            </a:r>
            <a:endParaRPr lang="en-US" sz="3708" dirty="0"/>
          </a:p>
        </p:txBody>
      </p:sp>
      <p:sp>
        <p:nvSpPr>
          <p:cNvPr id="3" name="Shape 1"/>
          <p:cNvSpPr/>
          <p:nvPr/>
        </p:nvSpPr>
        <p:spPr>
          <a:xfrm>
            <a:off x="661492" y="1729482"/>
            <a:ext cx="5339953" cy="1291133"/>
          </a:xfrm>
          <a:prstGeom prst="roundRect">
            <a:avLst>
              <a:gd name="adj" fmla="val 2196"/>
            </a:avLst>
          </a:prstGeom>
          <a:solidFill>
            <a:srgbClr val="2D3133"/>
          </a:solidFill>
          <a:ln w="30480">
            <a:solidFill>
              <a:srgbClr val="6569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6892" y="1754882"/>
            <a:ext cx="5289153" cy="567035"/>
          </a:xfrm>
          <a:prstGeom prst="rect">
            <a:avLst/>
          </a:prstGeom>
          <a:solidFill>
            <a:srgbClr val="4C5052"/>
          </a:solidFill>
          <a:ln/>
        </p:spPr>
      </p:sp>
      <p:sp>
        <p:nvSpPr>
          <p:cNvPr id="5" name="Text 3"/>
          <p:cNvSpPr/>
          <p:nvPr/>
        </p:nvSpPr>
        <p:spPr>
          <a:xfrm>
            <a:off x="3189684" y="1861146"/>
            <a:ext cx="283468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2208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2208" dirty="0"/>
          </a:p>
        </p:txBody>
      </p:sp>
      <p:sp>
        <p:nvSpPr>
          <p:cNvPr id="6" name="Text 4"/>
          <p:cNvSpPr/>
          <p:nvPr/>
        </p:nvSpPr>
        <p:spPr>
          <a:xfrm>
            <a:off x="875903" y="2510929"/>
            <a:ext cx="24231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History &amp; Background</a:t>
            </a:r>
            <a:endParaRPr lang="en-US" sz="1833" dirty="0"/>
          </a:p>
        </p:txBody>
      </p:sp>
      <p:sp>
        <p:nvSpPr>
          <p:cNvPr id="7" name="Shape 5"/>
          <p:cNvSpPr/>
          <p:nvPr/>
        </p:nvSpPr>
        <p:spPr>
          <a:xfrm>
            <a:off x="6190457" y="1729482"/>
            <a:ext cx="5340053" cy="1291133"/>
          </a:xfrm>
          <a:prstGeom prst="roundRect">
            <a:avLst>
              <a:gd name="adj" fmla="val 2196"/>
            </a:avLst>
          </a:prstGeom>
          <a:solidFill>
            <a:srgbClr val="2D3133"/>
          </a:solidFill>
          <a:ln w="30480">
            <a:solidFill>
              <a:srgbClr val="6569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5856" y="1754882"/>
            <a:ext cx="5289253" cy="567035"/>
          </a:xfrm>
          <a:prstGeom prst="rect">
            <a:avLst/>
          </a:prstGeom>
          <a:solidFill>
            <a:srgbClr val="4C5052"/>
          </a:solidFill>
          <a:ln/>
        </p:spPr>
      </p:sp>
      <p:sp>
        <p:nvSpPr>
          <p:cNvPr id="9" name="Text 7"/>
          <p:cNvSpPr/>
          <p:nvPr/>
        </p:nvSpPr>
        <p:spPr>
          <a:xfrm>
            <a:off x="8718749" y="1861146"/>
            <a:ext cx="283468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2208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2208" dirty="0"/>
          </a:p>
        </p:txBody>
      </p:sp>
      <p:sp>
        <p:nvSpPr>
          <p:cNvPr id="10" name="Text 8"/>
          <p:cNvSpPr/>
          <p:nvPr/>
        </p:nvSpPr>
        <p:spPr>
          <a:xfrm>
            <a:off x="6404869" y="2510929"/>
            <a:ext cx="425817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Core Concepts &amp; Modern Comparison</a:t>
            </a:r>
            <a:endParaRPr lang="en-US" sz="1833" dirty="0"/>
          </a:p>
        </p:txBody>
      </p:sp>
      <p:sp>
        <p:nvSpPr>
          <p:cNvPr id="11" name="Shape 9"/>
          <p:cNvSpPr/>
          <p:nvPr/>
        </p:nvSpPr>
        <p:spPr>
          <a:xfrm>
            <a:off x="661492" y="3209628"/>
            <a:ext cx="5339953" cy="1291133"/>
          </a:xfrm>
          <a:prstGeom prst="roundRect">
            <a:avLst>
              <a:gd name="adj" fmla="val 2196"/>
            </a:avLst>
          </a:prstGeom>
          <a:solidFill>
            <a:srgbClr val="2D3133"/>
          </a:solidFill>
          <a:ln w="30480">
            <a:solidFill>
              <a:srgbClr val="6569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6892" y="3235028"/>
            <a:ext cx="5289153" cy="567035"/>
          </a:xfrm>
          <a:prstGeom prst="rect">
            <a:avLst/>
          </a:prstGeom>
          <a:solidFill>
            <a:srgbClr val="4C5052"/>
          </a:solidFill>
          <a:ln/>
        </p:spPr>
      </p:sp>
      <p:sp>
        <p:nvSpPr>
          <p:cNvPr id="13" name="Text 11"/>
          <p:cNvSpPr/>
          <p:nvPr/>
        </p:nvSpPr>
        <p:spPr>
          <a:xfrm>
            <a:off x="3189684" y="3341291"/>
            <a:ext cx="283468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2208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2208" dirty="0"/>
          </a:p>
        </p:txBody>
      </p:sp>
      <p:sp>
        <p:nvSpPr>
          <p:cNvPr id="14" name="Text 12"/>
          <p:cNvSpPr/>
          <p:nvPr/>
        </p:nvSpPr>
        <p:spPr>
          <a:xfrm>
            <a:off x="875903" y="3991074"/>
            <a:ext cx="24790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Impact &amp; Applications</a:t>
            </a:r>
            <a:endParaRPr lang="en-US" sz="1833" dirty="0"/>
          </a:p>
        </p:txBody>
      </p:sp>
      <p:sp>
        <p:nvSpPr>
          <p:cNvPr id="15" name="Shape 13"/>
          <p:cNvSpPr/>
          <p:nvPr/>
        </p:nvSpPr>
        <p:spPr>
          <a:xfrm>
            <a:off x="6190457" y="3209628"/>
            <a:ext cx="5340053" cy="1291133"/>
          </a:xfrm>
          <a:prstGeom prst="roundRect">
            <a:avLst>
              <a:gd name="adj" fmla="val 2196"/>
            </a:avLst>
          </a:prstGeom>
          <a:solidFill>
            <a:srgbClr val="2D3133"/>
          </a:solidFill>
          <a:ln w="30480">
            <a:solidFill>
              <a:srgbClr val="6569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5856" y="3235028"/>
            <a:ext cx="5289253" cy="567035"/>
          </a:xfrm>
          <a:prstGeom prst="rect">
            <a:avLst/>
          </a:prstGeom>
          <a:solidFill>
            <a:srgbClr val="4C5052"/>
          </a:solidFill>
          <a:ln/>
        </p:spPr>
      </p:sp>
      <p:sp>
        <p:nvSpPr>
          <p:cNvPr id="17" name="Text 15"/>
          <p:cNvSpPr/>
          <p:nvPr/>
        </p:nvSpPr>
        <p:spPr>
          <a:xfrm>
            <a:off x="8718749" y="3341291"/>
            <a:ext cx="283468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2208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</a:t>
            </a:r>
            <a:endParaRPr lang="en-US" sz="2208" dirty="0"/>
          </a:p>
        </p:txBody>
      </p:sp>
      <p:sp>
        <p:nvSpPr>
          <p:cNvPr id="18" name="Text 16"/>
          <p:cNvSpPr/>
          <p:nvPr/>
        </p:nvSpPr>
        <p:spPr>
          <a:xfrm>
            <a:off x="6404868" y="3991074"/>
            <a:ext cx="471715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Learning Experience &amp; Live Demonstration</a:t>
            </a:r>
            <a:endParaRPr lang="en-US" sz="1833" dirty="0"/>
          </a:p>
        </p:txBody>
      </p:sp>
      <p:sp>
        <p:nvSpPr>
          <p:cNvPr id="19" name="Shape 17"/>
          <p:cNvSpPr/>
          <p:nvPr/>
        </p:nvSpPr>
        <p:spPr>
          <a:xfrm>
            <a:off x="661492" y="4713387"/>
            <a:ext cx="10869018" cy="803176"/>
          </a:xfrm>
          <a:prstGeom prst="roundRect">
            <a:avLst>
              <a:gd name="adj" fmla="val 3530"/>
            </a:avLst>
          </a:prstGeom>
          <a:solidFill>
            <a:srgbClr val="2A2A2D"/>
          </a:solidFill>
          <a:ln/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03" y="5000129"/>
            <a:ext cx="236240" cy="18901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275755" y="4949627"/>
            <a:ext cx="1006574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section approximately 2.5 minutes</a:t>
            </a:r>
            <a:endParaRPr lang="en-US" sz="1458" dirty="0"/>
          </a:p>
        </p:txBody>
      </p:sp>
      <p:sp>
        <p:nvSpPr>
          <p:cNvPr id="22" name="Shape 19"/>
          <p:cNvSpPr/>
          <p:nvPr/>
        </p:nvSpPr>
        <p:spPr>
          <a:xfrm>
            <a:off x="10908208" y="5729189"/>
            <a:ext cx="622300" cy="367903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AC9EF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027966" y="5792193"/>
            <a:ext cx="382786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167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15</a:t>
            </a:r>
            <a:endParaRPr lang="en-US" sz="116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6002" y="0"/>
            <a:ext cx="4539996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233492" y="1324273"/>
            <a:ext cx="4725492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8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Origin of Smalltalk</a:t>
            </a:r>
            <a:endParaRPr lang="en-US" sz="3708" dirty="0"/>
          </a:p>
        </p:txBody>
      </p:sp>
      <p:sp>
        <p:nvSpPr>
          <p:cNvPr id="6" name="Text 2"/>
          <p:cNvSpPr/>
          <p:nvPr/>
        </p:nvSpPr>
        <p:spPr>
          <a:xfrm>
            <a:off x="5233492" y="2198390"/>
            <a:ext cx="629701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Smalltalk was developed by Alan Kay and others at Xerox PARC in 1972 and is the first object-oriented programming language in history. The original vision was to create a computer language for children of all ages that would make programming intuitive and natural. After several iterations, Smalltalk gradually evolved from an educational tool into a highly influential industrial-grade language.[1]</a:t>
            </a:r>
            <a:endParaRPr lang="en-US" sz="1458" dirty="0"/>
          </a:p>
        </p:txBody>
      </p:sp>
      <p:sp>
        <p:nvSpPr>
          <p:cNvPr id="7" name="Text 3"/>
          <p:cNvSpPr/>
          <p:nvPr/>
        </p:nvSpPr>
        <p:spPr>
          <a:xfrm>
            <a:off x="5516960" y="4438155"/>
            <a:ext cx="601354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"The best way to predict the future is to invent it." — Alan Kay[2]</a:t>
            </a:r>
            <a:endParaRPr lang="en-US" sz="1458" dirty="0"/>
          </a:p>
        </p:txBody>
      </p:sp>
      <p:sp>
        <p:nvSpPr>
          <p:cNvPr id="8" name="Shape 4"/>
          <p:cNvSpPr/>
          <p:nvPr/>
        </p:nvSpPr>
        <p:spPr>
          <a:xfrm>
            <a:off x="5233492" y="4225528"/>
            <a:ext cx="25400" cy="72767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9" name="Shape 5"/>
          <p:cNvSpPr/>
          <p:nvPr/>
        </p:nvSpPr>
        <p:spPr>
          <a:xfrm>
            <a:off x="10907019" y="5165824"/>
            <a:ext cx="623491" cy="367903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AC9EF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1026775" y="5228828"/>
            <a:ext cx="383977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167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15</a:t>
            </a:r>
            <a:endParaRPr lang="en-US" sz="116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854" y="522982"/>
            <a:ext cx="7465517" cy="572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500"/>
              </a:lnSpc>
            </a:pPr>
            <a:r>
              <a:rPr lang="en-US" sz="3583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Smalltalk's Transformative Journey</a:t>
            </a:r>
            <a:endParaRPr lang="en-US" sz="3583" dirty="0"/>
          </a:p>
        </p:txBody>
      </p:sp>
      <p:sp>
        <p:nvSpPr>
          <p:cNvPr id="3" name="Text 1"/>
          <p:cNvSpPr/>
          <p:nvPr/>
        </p:nvSpPr>
        <p:spPr>
          <a:xfrm>
            <a:off x="640854" y="1449884"/>
            <a:ext cx="10910293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its conceptual inception in 1967 to its commercial release in 1980, Smalltalk underwent three major version updates, each introducing revolutionary innovations.[3]</a:t>
            </a:r>
            <a:endParaRPr lang="en-US" sz="1417" dirty="0"/>
          </a:p>
        </p:txBody>
      </p:sp>
      <p:sp>
        <p:nvSpPr>
          <p:cNvPr id="4" name="Shape 2"/>
          <p:cNvSpPr/>
          <p:nvPr/>
        </p:nvSpPr>
        <p:spPr>
          <a:xfrm>
            <a:off x="6083300" y="2226270"/>
            <a:ext cx="25400" cy="3556198"/>
          </a:xfrm>
          <a:prstGeom prst="roundRect">
            <a:avLst>
              <a:gd name="adj" fmla="val 108139"/>
            </a:avLst>
          </a:prstGeom>
          <a:solidFill>
            <a:srgbClr val="65696B"/>
          </a:solidFill>
          <a:ln/>
        </p:spPr>
      </p:sp>
      <p:sp>
        <p:nvSpPr>
          <p:cNvPr id="5" name="Shape 3"/>
          <p:cNvSpPr/>
          <p:nvPr/>
        </p:nvSpPr>
        <p:spPr>
          <a:xfrm>
            <a:off x="5366147" y="2419548"/>
            <a:ext cx="549275" cy="25400"/>
          </a:xfrm>
          <a:prstGeom prst="roundRect">
            <a:avLst>
              <a:gd name="adj" fmla="val 108139"/>
            </a:avLst>
          </a:prstGeom>
          <a:solidFill>
            <a:srgbClr val="65696B"/>
          </a:solidFill>
          <a:ln/>
        </p:spPr>
      </p:sp>
      <p:sp>
        <p:nvSpPr>
          <p:cNvPr id="6" name="Shape 4"/>
          <p:cNvSpPr/>
          <p:nvPr/>
        </p:nvSpPr>
        <p:spPr>
          <a:xfrm>
            <a:off x="5890022" y="2226270"/>
            <a:ext cx="411957" cy="411957"/>
          </a:xfrm>
          <a:prstGeom prst="roundRect">
            <a:avLst>
              <a:gd name="adj" fmla="val 6668"/>
            </a:avLst>
          </a:prstGeom>
          <a:solidFill>
            <a:srgbClr val="4C5052"/>
          </a:solidFill>
          <a:ln/>
        </p:spPr>
      </p:sp>
      <p:sp>
        <p:nvSpPr>
          <p:cNvPr id="7" name="Text 5"/>
          <p:cNvSpPr/>
          <p:nvPr/>
        </p:nvSpPr>
        <p:spPr>
          <a:xfrm>
            <a:off x="5958682" y="2260600"/>
            <a:ext cx="274638" cy="343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125"/>
              </a:lnSpc>
            </a:pPr>
            <a:r>
              <a:rPr lang="en-US" sz="2125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2125" dirty="0"/>
          </a:p>
        </p:txBody>
      </p:sp>
      <p:sp>
        <p:nvSpPr>
          <p:cNvPr id="8" name="Text 6"/>
          <p:cNvSpPr/>
          <p:nvPr/>
        </p:nvSpPr>
        <p:spPr>
          <a:xfrm>
            <a:off x="2891632" y="2289175"/>
            <a:ext cx="2288878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2250"/>
              </a:lnSpc>
            </a:pPr>
            <a:r>
              <a:rPr lang="en-US" sz="1792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1967 — Smalltalk-72</a:t>
            </a:r>
            <a:endParaRPr lang="en-US" sz="1792" dirty="0"/>
          </a:p>
        </p:txBody>
      </p:sp>
      <p:sp>
        <p:nvSpPr>
          <p:cNvPr id="9" name="Text 7"/>
          <p:cNvSpPr/>
          <p:nvPr/>
        </p:nvSpPr>
        <p:spPr>
          <a:xfrm>
            <a:off x="640854" y="2681585"/>
            <a:ext cx="4539655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2250"/>
              </a:lnSpc>
            </a:pPr>
            <a:r>
              <a:rPr lang="en-US" sz="1417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Introduced the fundamental concepts of object-oriented programming, laying the foundation for the entire paradigm</a:t>
            </a:r>
            <a:endParaRPr lang="en-US" sz="1417" dirty="0"/>
          </a:p>
        </p:txBody>
      </p:sp>
      <p:sp>
        <p:nvSpPr>
          <p:cNvPr id="10" name="Shape 8"/>
          <p:cNvSpPr/>
          <p:nvPr/>
        </p:nvSpPr>
        <p:spPr>
          <a:xfrm>
            <a:off x="6276578" y="3506688"/>
            <a:ext cx="549275" cy="25400"/>
          </a:xfrm>
          <a:prstGeom prst="roundRect">
            <a:avLst>
              <a:gd name="adj" fmla="val 108139"/>
            </a:avLst>
          </a:prstGeom>
          <a:solidFill>
            <a:srgbClr val="65696B"/>
          </a:solidFill>
          <a:ln/>
        </p:spPr>
      </p:sp>
      <p:sp>
        <p:nvSpPr>
          <p:cNvPr id="11" name="Shape 9"/>
          <p:cNvSpPr/>
          <p:nvPr/>
        </p:nvSpPr>
        <p:spPr>
          <a:xfrm>
            <a:off x="5890022" y="3313410"/>
            <a:ext cx="411957" cy="411957"/>
          </a:xfrm>
          <a:prstGeom prst="roundRect">
            <a:avLst>
              <a:gd name="adj" fmla="val 6668"/>
            </a:avLst>
          </a:prstGeom>
          <a:solidFill>
            <a:srgbClr val="4C5052"/>
          </a:solidFill>
          <a:ln/>
        </p:spPr>
      </p:sp>
      <p:sp>
        <p:nvSpPr>
          <p:cNvPr id="12" name="Text 10"/>
          <p:cNvSpPr/>
          <p:nvPr/>
        </p:nvSpPr>
        <p:spPr>
          <a:xfrm>
            <a:off x="5958682" y="3347740"/>
            <a:ext cx="274638" cy="343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125"/>
              </a:lnSpc>
            </a:pPr>
            <a:r>
              <a:rPr lang="en-US" sz="2125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2125" dirty="0"/>
          </a:p>
        </p:txBody>
      </p:sp>
      <p:sp>
        <p:nvSpPr>
          <p:cNvPr id="13" name="Text 11"/>
          <p:cNvSpPr/>
          <p:nvPr/>
        </p:nvSpPr>
        <p:spPr>
          <a:xfrm>
            <a:off x="7011492" y="3376315"/>
            <a:ext cx="2288878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792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1976 — Smalltalk-76</a:t>
            </a:r>
            <a:endParaRPr lang="en-US" sz="1792" dirty="0"/>
          </a:p>
        </p:txBody>
      </p:sp>
      <p:sp>
        <p:nvSpPr>
          <p:cNvPr id="14" name="Text 12"/>
          <p:cNvSpPr/>
          <p:nvPr/>
        </p:nvSpPr>
        <p:spPr>
          <a:xfrm>
            <a:off x="7011492" y="3768725"/>
            <a:ext cx="4539655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17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Introduced a bytecode VM and a just-in-time compilation mechanism, significantly improving execution efficiency</a:t>
            </a:r>
            <a:endParaRPr lang="en-US" sz="1417" dirty="0"/>
          </a:p>
        </p:txBody>
      </p:sp>
      <p:sp>
        <p:nvSpPr>
          <p:cNvPr id="15" name="Shape 13"/>
          <p:cNvSpPr/>
          <p:nvPr/>
        </p:nvSpPr>
        <p:spPr>
          <a:xfrm>
            <a:off x="5366147" y="4447878"/>
            <a:ext cx="549275" cy="25400"/>
          </a:xfrm>
          <a:prstGeom prst="roundRect">
            <a:avLst>
              <a:gd name="adj" fmla="val 108139"/>
            </a:avLst>
          </a:prstGeom>
          <a:solidFill>
            <a:srgbClr val="65696B"/>
          </a:solidFill>
          <a:ln/>
        </p:spPr>
      </p:sp>
      <p:sp>
        <p:nvSpPr>
          <p:cNvPr id="16" name="Shape 14"/>
          <p:cNvSpPr/>
          <p:nvPr/>
        </p:nvSpPr>
        <p:spPr>
          <a:xfrm>
            <a:off x="5890022" y="4254599"/>
            <a:ext cx="411957" cy="411957"/>
          </a:xfrm>
          <a:prstGeom prst="roundRect">
            <a:avLst>
              <a:gd name="adj" fmla="val 6668"/>
            </a:avLst>
          </a:prstGeom>
          <a:solidFill>
            <a:srgbClr val="4C5052"/>
          </a:solidFill>
          <a:ln/>
        </p:spPr>
      </p:sp>
      <p:sp>
        <p:nvSpPr>
          <p:cNvPr id="17" name="Text 15"/>
          <p:cNvSpPr/>
          <p:nvPr/>
        </p:nvSpPr>
        <p:spPr>
          <a:xfrm>
            <a:off x="5958682" y="4288929"/>
            <a:ext cx="274638" cy="343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125"/>
              </a:lnSpc>
            </a:pPr>
            <a:r>
              <a:rPr lang="en-US" sz="2125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2125" dirty="0"/>
          </a:p>
        </p:txBody>
      </p:sp>
      <p:sp>
        <p:nvSpPr>
          <p:cNvPr id="18" name="Text 16"/>
          <p:cNvSpPr/>
          <p:nvPr/>
        </p:nvSpPr>
        <p:spPr>
          <a:xfrm>
            <a:off x="2891632" y="4317504"/>
            <a:ext cx="2288878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2250"/>
              </a:lnSpc>
            </a:pPr>
            <a:r>
              <a:rPr lang="en-US" sz="1792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1980 — Smalltalk-80</a:t>
            </a:r>
            <a:endParaRPr lang="en-US" sz="1792" dirty="0"/>
          </a:p>
        </p:txBody>
      </p:sp>
      <p:sp>
        <p:nvSpPr>
          <p:cNvPr id="19" name="Text 17"/>
          <p:cNvSpPr/>
          <p:nvPr/>
        </p:nvSpPr>
        <p:spPr>
          <a:xfrm>
            <a:off x="640854" y="4709914"/>
            <a:ext cx="4539655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2250"/>
              </a:lnSpc>
            </a:pPr>
            <a:r>
              <a:rPr lang="en-US" sz="1417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Become a widely adopted version and officially enter the commercial market</a:t>
            </a:r>
            <a:endParaRPr lang="en-US" sz="1417" dirty="0"/>
          </a:p>
        </p:txBody>
      </p:sp>
      <p:sp>
        <p:nvSpPr>
          <p:cNvPr id="20" name="Shape 18"/>
          <p:cNvSpPr/>
          <p:nvPr/>
        </p:nvSpPr>
        <p:spPr>
          <a:xfrm>
            <a:off x="10942737" y="5981998"/>
            <a:ext cx="608409" cy="353020"/>
          </a:xfrm>
          <a:prstGeom prst="roundRect">
            <a:avLst>
              <a:gd name="adj" fmla="val 6225"/>
            </a:avLst>
          </a:prstGeom>
          <a:noFill/>
          <a:ln w="7620">
            <a:solidFill>
              <a:srgbClr val="AC9E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058922" y="6043216"/>
            <a:ext cx="376039" cy="230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92"/>
              </a:lnSpc>
            </a:pPr>
            <a:r>
              <a:rPr lang="en-US" sz="1125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15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238</Words>
  <Application>Microsoft Office PowerPoint</Application>
  <PresentationFormat>宽屏</PresentationFormat>
  <Paragraphs>36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等线 Light</vt:lpstr>
      <vt:lpstr>Arial</vt:lpstr>
      <vt:lpstr>DM Sans Medium</vt:lpstr>
      <vt:lpstr>Inter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zihan tang</dc:creator>
  <cp:lastModifiedBy>zihan tang</cp:lastModifiedBy>
  <cp:revision>1</cp:revision>
  <dcterms:created xsi:type="dcterms:W3CDTF">2026-05-08T05:05:39Z</dcterms:created>
  <dcterms:modified xsi:type="dcterms:W3CDTF">2026-05-08T05:06:50Z</dcterms:modified>
</cp:coreProperties>
</file>