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3" autoAdjust="0"/>
    <p:restoredTop sz="94660"/>
  </p:normalViewPr>
  <p:slideViewPr>
    <p:cSldViewPr snapToGrid="0">
      <p:cViewPr varScale="1">
        <p:scale>
          <a:sx n="85" d="100"/>
          <a:sy n="85" d="100"/>
        </p:scale>
        <p:origin x="80" y="3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4F14AA-2CDF-9224-A35D-D323DFC42AE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13CF04F1-1A92-2DA8-8626-609BEAD608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36A45EE-6D53-C11B-F41E-421A0C749D61}"/>
              </a:ext>
            </a:extLst>
          </p:cNvPr>
          <p:cNvSpPr>
            <a:spLocks noGrp="1"/>
          </p:cNvSpPr>
          <p:nvPr>
            <p:ph type="dt" sz="half" idx="10"/>
          </p:nvPr>
        </p:nvSpPr>
        <p:spPr/>
        <p:txBody>
          <a:bodyPr/>
          <a:lstStyle/>
          <a:p>
            <a:fld id="{521C54C1-5DDD-4858-98AA-7509BDD6E271}" type="datetimeFigureOut">
              <a:rPr lang="zh-CN" altLang="en-US" smtClean="0"/>
              <a:t>2026/4/21</a:t>
            </a:fld>
            <a:endParaRPr lang="zh-CN" altLang="en-US"/>
          </a:p>
        </p:txBody>
      </p:sp>
      <p:sp>
        <p:nvSpPr>
          <p:cNvPr id="5" name="页脚占位符 4">
            <a:extLst>
              <a:ext uri="{FF2B5EF4-FFF2-40B4-BE49-F238E27FC236}">
                <a16:creationId xmlns:a16="http://schemas.microsoft.com/office/drawing/2014/main" id="{A1B7C83B-091C-E0D6-CBE5-8AF2B5F9C14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31BCFBE-308C-6F9E-D16C-7A712F539221}"/>
              </a:ext>
            </a:extLst>
          </p:cNvPr>
          <p:cNvSpPr>
            <a:spLocks noGrp="1"/>
          </p:cNvSpPr>
          <p:nvPr>
            <p:ph type="sldNum" sz="quarter" idx="12"/>
          </p:nvPr>
        </p:nvSpPr>
        <p:spPr/>
        <p:txBody>
          <a:bodyPr/>
          <a:lstStyle/>
          <a:p>
            <a:fld id="{3E93F177-3B7B-435D-A6BB-89BC232B55C7}" type="slidenum">
              <a:rPr lang="zh-CN" altLang="en-US" smtClean="0"/>
              <a:t>‹#›</a:t>
            </a:fld>
            <a:endParaRPr lang="zh-CN" altLang="en-US"/>
          </a:p>
        </p:txBody>
      </p:sp>
    </p:spTree>
    <p:extLst>
      <p:ext uri="{BB962C8B-B14F-4D97-AF65-F5344CB8AC3E}">
        <p14:creationId xmlns:p14="http://schemas.microsoft.com/office/powerpoint/2010/main" val="1513045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F5A80C-160F-325E-7210-D3670A7AE3C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56F58DB-E1AF-20EB-9469-3CD405F7031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EC907C8-CB31-53BA-A633-2CA45E3C5509}"/>
              </a:ext>
            </a:extLst>
          </p:cNvPr>
          <p:cNvSpPr>
            <a:spLocks noGrp="1"/>
          </p:cNvSpPr>
          <p:nvPr>
            <p:ph type="dt" sz="half" idx="10"/>
          </p:nvPr>
        </p:nvSpPr>
        <p:spPr/>
        <p:txBody>
          <a:bodyPr/>
          <a:lstStyle/>
          <a:p>
            <a:fld id="{521C54C1-5DDD-4858-98AA-7509BDD6E271}" type="datetimeFigureOut">
              <a:rPr lang="zh-CN" altLang="en-US" smtClean="0"/>
              <a:t>2026/4/21</a:t>
            </a:fld>
            <a:endParaRPr lang="zh-CN" altLang="en-US"/>
          </a:p>
        </p:txBody>
      </p:sp>
      <p:sp>
        <p:nvSpPr>
          <p:cNvPr id="5" name="页脚占位符 4">
            <a:extLst>
              <a:ext uri="{FF2B5EF4-FFF2-40B4-BE49-F238E27FC236}">
                <a16:creationId xmlns:a16="http://schemas.microsoft.com/office/drawing/2014/main" id="{6C6D3E01-BDA1-2F77-1D32-89E47F50C0F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B10BCD3-384C-FCAE-6A28-539CA33FCC4A}"/>
              </a:ext>
            </a:extLst>
          </p:cNvPr>
          <p:cNvSpPr>
            <a:spLocks noGrp="1"/>
          </p:cNvSpPr>
          <p:nvPr>
            <p:ph type="sldNum" sz="quarter" idx="12"/>
          </p:nvPr>
        </p:nvSpPr>
        <p:spPr/>
        <p:txBody>
          <a:bodyPr/>
          <a:lstStyle/>
          <a:p>
            <a:fld id="{3E93F177-3B7B-435D-A6BB-89BC232B55C7}" type="slidenum">
              <a:rPr lang="zh-CN" altLang="en-US" smtClean="0"/>
              <a:t>‹#›</a:t>
            </a:fld>
            <a:endParaRPr lang="zh-CN" altLang="en-US"/>
          </a:p>
        </p:txBody>
      </p:sp>
    </p:spTree>
    <p:extLst>
      <p:ext uri="{BB962C8B-B14F-4D97-AF65-F5344CB8AC3E}">
        <p14:creationId xmlns:p14="http://schemas.microsoft.com/office/powerpoint/2010/main" val="3830985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DD1182-7813-4DA3-3FC0-4F002E8A545E}"/>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D0C3135-DA90-5458-10B6-58D480567D0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BBECC36-9FFC-7A8D-F526-DCCDBB759416}"/>
              </a:ext>
            </a:extLst>
          </p:cNvPr>
          <p:cNvSpPr>
            <a:spLocks noGrp="1"/>
          </p:cNvSpPr>
          <p:nvPr>
            <p:ph type="dt" sz="half" idx="10"/>
          </p:nvPr>
        </p:nvSpPr>
        <p:spPr/>
        <p:txBody>
          <a:bodyPr/>
          <a:lstStyle/>
          <a:p>
            <a:fld id="{521C54C1-5DDD-4858-98AA-7509BDD6E271}" type="datetimeFigureOut">
              <a:rPr lang="zh-CN" altLang="en-US" smtClean="0"/>
              <a:t>2026/4/21</a:t>
            </a:fld>
            <a:endParaRPr lang="zh-CN" altLang="en-US"/>
          </a:p>
        </p:txBody>
      </p:sp>
      <p:sp>
        <p:nvSpPr>
          <p:cNvPr id="5" name="页脚占位符 4">
            <a:extLst>
              <a:ext uri="{FF2B5EF4-FFF2-40B4-BE49-F238E27FC236}">
                <a16:creationId xmlns:a16="http://schemas.microsoft.com/office/drawing/2014/main" id="{F9B9188D-3D1C-2D2C-8865-CF101E22E59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CAE2006-2CDA-18E8-2CC7-F607EC02F14C}"/>
              </a:ext>
            </a:extLst>
          </p:cNvPr>
          <p:cNvSpPr>
            <a:spLocks noGrp="1"/>
          </p:cNvSpPr>
          <p:nvPr>
            <p:ph type="sldNum" sz="quarter" idx="12"/>
          </p:nvPr>
        </p:nvSpPr>
        <p:spPr/>
        <p:txBody>
          <a:bodyPr/>
          <a:lstStyle/>
          <a:p>
            <a:fld id="{3E93F177-3B7B-435D-A6BB-89BC232B55C7}" type="slidenum">
              <a:rPr lang="zh-CN" altLang="en-US" smtClean="0"/>
              <a:t>‹#›</a:t>
            </a:fld>
            <a:endParaRPr lang="zh-CN" altLang="en-US"/>
          </a:p>
        </p:txBody>
      </p:sp>
    </p:spTree>
    <p:extLst>
      <p:ext uri="{BB962C8B-B14F-4D97-AF65-F5344CB8AC3E}">
        <p14:creationId xmlns:p14="http://schemas.microsoft.com/office/powerpoint/2010/main" val="305992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5AECEF-0564-057A-3379-7D4CF6EE699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716FA2F-4FB4-F3DC-F737-497301AE387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B0EF8BE-0639-BCA8-709C-E7A063F963C7}"/>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69D0BEB-E17B-B8C2-D0F1-F135706850BB}"/>
              </a:ext>
            </a:extLst>
          </p:cNvPr>
          <p:cNvSpPr>
            <a:spLocks noGrp="1"/>
          </p:cNvSpPr>
          <p:nvPr>
            <p:ph type="dt" sz="half" idx="10"/>
          </p:nvPr>
        </p:nvSpPr>
        <p:spPr/>
        <p:txBody>
          <a:bodyPr/>
          <a:lstStyle/>
          <a:p>
            <a:fld id="{521C54C1-5DDD-4858-98AA-7509BDD6E271}" type="datetimeFigureOut">
              <a:rPr lang="zh-CN" altLang="en-US" smtClean="0"/>
              <a:t>2026/4/21</a:t>
            </a:fld>
            <a:endParaRPr lang="zh-CN" altLang="en-US"/>
          </a:p>
        </p:txBody>
      </p:sp>
      <p:sp>
        <p:nvSpPr>
          <p:cNvPr id="6" name="页脚占位符 5">
            <a:extLst>
              <a:ext uri="{FF2B5EF4-FFF2-40B4-BE49-F238E27FC236}">
                <a16:creationId xmlns:a16="http://schemas.microsoft.com/office/drawing/2014/main" id="{02047620-76C3-2A43-B391-FE82CDCC22F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F7362FC-BDC5-91BF-CF77-641F42457A4B}"/>
              </a:ext>
            </a:extLst>
          </p:cNvPr>
          <p:cNvSpPr>
            <a:spLocks noGrp="1"/>
          </p:cNvSpPr>
          <p:nvPr>
            <p:ph type="sldNum" sz="quarter" idx="12"/>
          </p:nvPr>
        </p:nvSpPr>
        <p:spPr/>
        <p:txBody>
          <a:bodyPr/>
          <a:lstStyle/>
          <a:p>
            <a:fld id="{3E93F177-3B7B-435D-A6BB-89BC232B55C7}" type="slidenum">
              <a:rPr lang="zh-CN" altLang="en-US" smtClean="0"/>
              <a:t>‹#›</a:t>
            </a:fld>
            <a:endParaRPr lang="zh-CN" altLang="en-US"/>
          </a:p>
        </p:txBody>
      </p:sp>
    </p:spTree>
    <p:extLst>
      <p:ext uri="{BB962C8B-B14F-4D97-AF65-F5344CB8AC3E}">
        <p14:creationId xmlns:p14="http://schemas.microsoft.com/office/powerpoint/2010/main" val="141804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621F5B-D892-BC99-66AE-680364C8EBB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012FFC9-5683-A303-171E-871BA3A4B5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A738C7D-9615-73C6-AB2D-C28197FD1CB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403D63FC-F40E-41EE-CB4B-3469836351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C1BC57C-B8F2-E08F-4602-0DD08DD331B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1CFA2324-A22F-0257-B921-9A9A052B1698}"/>
              </a:ext>
            </a:extLst>
          </p:cNvPr>
          <p:cNvSpPr>
            <a:spLocks noGrp="1"/>
          </p:cNvSpPr>
          <p:nvPr>
            <p:ph type="dt" sz="half" idx="10"/>
          </p:nvPr>
        </p:nvSpPr>
        <p:spPr/>
        <p:txBody>
          <a:bodyPr/>
          <a:lstStyle/>
          <a:p>
            <a:fld id="{521C54C1-5DDD-4858-98AA-7509BDD6E271}" type="datetimeFigureOut">
              <a:rPr lang="zh-CN" altLang="en-US" smtClean="0"/>
              <a:t>2026/4/21</a:t>
            </a:fld>
            <a:endParaRPr lang="zh-CN" altLang="en-US"/>
          </a:p>
        </p:txBody>
      </p:sp>
      <p:sp>
        <p:nvSpPr>
          <p:cNvPr id="8" name="页脚占位符 7">
            <a:extLst>
              <a:ext uri="{FF2B5EF4-FFF2-40B4-BE49-F238E27FC236}">
                <a16:creationId xmlns:a16="http://schemas.microsoft.com/office/drawing/2014/main" id="{61F64649-6BB7-CF55-44BB-0F93863B91E6}"/>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31D137F-BB73-37BE-E5A8-1F52162B8641}"/>
              </a:ext>
            </a:extLst>
          </p:cNvPr>
          <p:cNvSpPr>
            <a:spLocks noGrp="1"/>
          </p:cNvSpPr>
          <p:nvPr>
            <p:ph type="sldNum" sz="quarter" idx="12"/>
          </p:nvPr>
        </p:nvSpPr>
        <p:spPr/>
        <p:txBody>
          <a:bodyPr/>
          <a:lstStyle/>
          <a:p>
            <a:fld id="{3E93F177-3B7B-435D-A6BB-89BC232B55C7}" type="slidenum">
              <a:rPr lang="zh-CN" altLang="en-US" smtClean="0"/>
              <a:t>‹#›</a:t>
            </a:fld>
            <a:endParaRPr lang="zh-CN" altLang="en-US"/>
          </a:p>
        </p:txBody>
      </p:sp>
    </p:spTree>
    <p:extLst>
      <p:ext uri="{BB962C8B-B14F-4D97-AF65-F5344CB8AC3E}">
        <p14:creationId xmlns:p14="http://schemas.microsoft.com/office/powerpoint/2010/main" val="2126046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900976-8E45-1809-5A0F-B0A8EAAC5E5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E1C2B9D-B42E-E56A-A041-1D84B871A5A1}"/>
              </a:ext>
            </a:extLst>
          </p:cNvPr>
          <p:cNvSpPr>
            <a:spLocks noGrp="1"/>
          </p:cNvSpPr>
          <p:nvPr>
            <p:ph type="dt" sz="half" idx="10"/>
          </p:nvPr>
        </p:nvSpPr>
        <p:spPr/>
        <p:txBody>
          <a:bodyPr/>
          <a:lstStyle/>
          <a:p>
            <a:fld id="{521C54C1-5DDD-4858-98AA-7509BDD6E271}" type="datetimeFigureOut">
              <a:rPr lang="zh-CN" altLang="en-US" smtClean="0"/>
              <a:t>2026/4/21</a:t>
            </a:fld>
            <a:endParaRPr lang="zh-CN" altLang="en-US"/>
          </a:p>
        </p:txBody>
      </p:sp>
      <p:sp>
        <p:nvSpPr>
          <p:cNvPr id="4" name="页脚占位符 3">
            <a:extLst>
              <a:ext uri="{FF2B5EF4-FFF2-40B4-BE49-F238E27FC236}">
                <a16:creationId xmlns:a16="http://schemas.microsoft.com/office/drawing/2014/main" id="{9FCD976C-95FE-C94C-AEA6-D11EA252549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03A5CA9-87EB-0C69-15F1-9A35E46ED169}"/>
              </a:ext>
            </a:extLst>
          </p:cNvPr>
          <p:cNvSpPr>
            <a:spLocks noGrp="1"/>
          </p:cNvSpPr>
          <p:nvPr>
            <p:ph type="sldNum" sz="quarter" idx="12"/>
          </p:nvPr>
        </p:nvSpPr>
        <p:spPr/>
        <p:txBody>
          <a:bodyPr/>
          <a:lstStyle/>
          <a:p>
            <a:fld id="{3E93F177-3B7B-435D-A6BB-89BC232B55C7}" type="slidenum">
              <a:rPr lang="zh-CN" altLang="en-US" smtClean="0"/>
              <a:t>‹#›</a:t>
            </a:fld>
            <a:endParaRPr lang="zh-CN" altLang="en-US"/>
          </a:p>
        </p:txBody>
      </p:sp>
    </p:spTree>
    <p:extLst>
      <p:ext uri="{BB962C8B-B14F-4D97-AF65-F5344CB8AC3E}">
        <p14:creationId xmlns:p14="http://schemas.microsoft.com/office/powerpoint/2010/main" val="1739866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BE5D45D-C25D-AE1B-DE6D-D0A97112DC42}"/>
              </a:ext>
            </a:extLst>
          </p:cNvPr>
          <p:cNvSpPr>
            <a:spLocks noGrp="1"/>
          </p:cNvSpPr>
          <p:nvPr>
            <p:ph type="dt" sz="half" idx="10"/>
          </p:nvPr>
        </p:nvSpPr>
        <p:spPr/>
        <p:txBody>
          <a:bodyPr/>
          <a:lstStyle/>
          <a:p>
            <a:fld id="{521C54C1-5DDD-4858-98AA-7509BDD6E271}" type="datetimeFigureOut">
              <a:rPr lang="zh-CN" altLang="en-US" smtClean="0"/>
              <a:t>2026/4/21</a:t>
            </a:fld>
            <a:endParaRPr lang="zh-CN" altLang="en-US"/>
          </a:p>
        </p:txBody>
      </p:sp>
      <p:sp>
        <p:nvSpPr>
          <p:cNvPr id="3" name="页脚占位符 2">
            <a:extLst>
              <a:ext uri="{FF2B5EF4-FFF2-40B4-BE49-F238E27FC236}">
                <a16:creationId xmlns:a16="http://schemas.microsoft.com/office/drawing/2014/main" id="{C16C00B3-279B-7C57-4D9C-3E603DA5581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929F43D-BC5E-E6FA-32A4-571D9B92964B}"/>
              </a:ext>
            </a:extLst>
          </p:cNvPr>
          <p:cNvSpPr>
            <a:spLocks noGrp="1"/>
          </p:cNvSpPr>
          <p:nvPr>
            <p:ph type="sldNum" sz="quarter" idx="12"/>
          </p:nvPr>
        </p:nvSpPr>
        <p:spPr/>
        <p:txBody>
          <a:bodyPr/>
          <a:lstStyle/>
          <a:p>
            <a:fld id="{3E93F177-3B7B-435D-A6BB-89BC232B55C7}" type="slidenum">
              <a:rPr lang="zh-CN" altLang="en-US" smtClean="0"/>
              <a:t>‹#›</a:t>
            </a:fld>
            <a:endParaRPr lang="zh-CN" altLang="en-US"/>
          </a:p>
        </p:txBody>
      </p:sp>
    </p:spTree>
    <p:extLst>
      <p:ext uri="{BB962C8B-B14F-4D97-AF65-F5344CB8AC3E}">
        <p14:creationId xmlns:p14="http://schemas.microsoft.com/office/powerpoint/2010/main" val="3925737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19680A-2073-00E1-C36C-1CC348BBAA0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4B6FAD5-E2A0-2EA0-BF87-9DFC9C938E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6389B4B-2BB4-ABC2-023E-97340AAECA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98B083B-60B7-69CD-6437-9656608BDAA8}"/>
              </a:ext>
            </a:extLst>
          </p:cNvPr>
          <p:cNvSpPr>
            <a:spLocks noGrp="1"/>
          </p:cNvSpPr>
          <p:nvPr>
            <p:ph type="dt" sz="half" idx="10"/>
          </p:nvPr>
        </p:nvSpPr>
        <p:spPr/>
        <p:txBody>
          <a:bodyPr/>
          <a:lstStyle/>
          <a:p>
            <a:fld id="{521C54C1-5DDD-4858-98AA-7509BDD6E271}" type="datetimeFigureOut">
              <a:rPr lang="zh-CN" altLang="en-US" smtClean="0"/>
              <a:t>2026/4/21</a:t>
            </a:fld>
            <a:endParaRPr lang="zh-CN" altLang="en-US"/>
          </a:p>
        </p:txBody>
      </p:sp>
      <p:sp>
        <p:nvSpPr>
          <p:cNvPr id="6" name="页脚占位符 5">
            <a:extLst>
              <a:ext uri="{FF2B5EF4-FFF2-40B4-BE49-F238E27FC236}">
                <a16:creationId xmlns:a16="http://schemas.microsoft.com/office/drawing/2014/main" id="{17074846-7E82-30B7-A8E7-CD4BDD5A9D6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A38F624-A1B2-918C-BF19-B25B0144E112}"/>
              </a:ext>
            </a:extLst>
          </p:cNvPr>
          <p:cNvSpPr>
            <a:spLocks noGrp="1"/>
          </p:cNvSpPr>
          <p:nvPr>
            <p:ph type="sldNum" sz="quarter" idx="12"/>
          </p:nvPr>
        </p:nvSpPr>
        <p:spPr/>
        <p:txBody>
          <a:bodyPr/>
          <a:lstStyle/>
          <a:p>
            <a:fld id="{3E93F177-3B7B-435D-A6BB-89BC232B55C7}" type="slidenum">
              <a:rPr lang="zh-CN" altLang="en-US" smtClean="0"/>
              <a:t>‹#›</a:t>
            </a:fld>
            <a:endParaRPr lang="zh-CN" altLang="en-US"/>
          </a:p>
        </p:txBody>
      </p:sp>
    </p:spTree>
    <p:extLst>
      <p:ext uri="{BB962C8B-B14F-4D97-AF65-F5344CB8AC3E}">
        <p14:creationId xmlns:p14="http://schemas.microsoft.com/office/powerpoint/2010/main" val="3074425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8D4622-515C-7CDE-2F61-A4C4A850A4D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AD8B2E4-A569-C261-4A8A-1F2B899F02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EC42970-5434-4D2C-4206-21395D6A3B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44ED703-36D2-8BBA-F0F9-027588989B9E}"/>
              </a:ext>
            </a:extLst>
          </p:cNvPr>
          <p:cNvSpPr>
            <a:spLocks noGrp="1"/>
          </p:cNvSpPr>
          <p:nvPr>
            <p:ph type="dt" sz="half" idx="10"/>
          </p:nvPr>
        </p:nvSpPr>
        <p:spPr/>
        <p:txBody>
          <a:bodyPr/>
          <a:lstStyle/>
          <a:p>
            <a:fld id="{521C54C1-5DDD-4858-98AA-7509BDD6E271}" type="datetimeFigureOut">
              <a:rPr lang="zh-CN" altLang="en-US" smtClean="0"/>
              <a:t>2026/4/21</a:t>
            </a:fld>
            <a:endParaRPr lang="zh-CN" altLang="en-US"/>
          </a:p>
        </p:txBody>
      </p:sp>
      <p:sp>
        <p:nvSpPr>
          <p:cNvPr id="6" name="页脚占位符 5">
            <a:extLst>
              <a:ext uri="{FF2B5EF4-FFF2-40B4-BE49-F238E27FC236}">
                <a16:creationId xmlns:a16="http://schemas.microsoft.com/office/drawing/2014/main" id="{F258ACC0-6681-7E9B-5BF0-DA5D22BCD5F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7E72227-4AF9-6C50-6CFC-81EA4C05FE18}"/>
              </a:ext>
            </a:extLst>
          </p:cNvPr>
          <p:cNvSpPr>
            <a:spLocks noGrp="1"/>
          </p:cNvSpPr>
          <p:nvPr>
            <p:ph type="sldNum" sz="quarter" idx="12"/>
          </p:nvPr>
        </p:nvSpPr>
        <p:spPr/>
        <p:txBody>
          <a:bodyPr/>
          <a:lstStyle/>
          <a:p>
            <a:fld id="{3E93F177-3B7B-435D-A6BB-89BC232B55C7}" type="slidenum">
              <a:rPr lang="zh-CN" altLang="en-US" smtClean="0"/>
              <a:t>‹#›</a:t>
            </a:fld>
            <a:endParaRPr lang="zh-CN" altLang="en-US"/>
          </a:p>
        </p:txBody>
      </p:sp>
    </p:spTree>
    <p:extLst>
      <p:ext uri="{BB962C8B-B14F-4D97-AF65-F5344CB8AC3E}">
        <p14:creationId xmlns:p14="http://schemas.microsoft.com/office/powerpoint/2010/main" val="3274138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8F275A-CD5D-7A86-FFE1-9B5A541AE67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0EB516B-CA16-7656-3FF7-8031659550C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D7DE630-69B7-2BA6-7863-ECE3B6F2846E}"/>
              </a:ext>
            </a:extLst>
          </p:cNvPr>
          <p:cNvSpPr>
            <a:spLocks noGrp="1"/>
          </p:cNvSpPr>
          <p:nvPr>
            <p:ph type="dt" sz="half" idx="10"/>
          </p:nvPr>
        </p:nvSpPr>
        <p:spPr/>
        <p:txBody>
          <a:bodyPr/>
          <a:lstStyle/>
          <a:p>
            <a:fld id="{521C54C1-5DDD-4858-98AA-7509BDD6E271}" type="datetimeFigureOut">
              <a:rPr lang="zh-CN" altLang="en-US" smtClean="0"/>
              <a:t>2026/4/21</a:t>
            </a:fld>
            <a:endParaRPr lang="zh-CN" altLang="en-US"/>
          </a:p>
        </p:txBody>
      </p:sp>
      <p:sp>
        <p:nvSpPr>
          <p:cNvPr id="5" name="页脚占位符 4">
            <a:extLst>
              <a:ext uri="{FF2B5EF4-FFF2-40B4-BE49-F238E27FC236}">
                <a16:creationId xmlns:a16="http://schemas.microsoft.com/office/drawing/2014/main" id="{8F3A12DB-3D2A-D0D4-7BDB-B123D91FD5D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C34F4BF-AE12-A9EF-BA4F-39D014746FE0}"/>
              </a:ext>
            </a:extLst>
          </p:cNvPr>
          <p:cNvSpPr>
            <a:spLocks noGrp="1"/>
          </p:cNvSpPr>
          <p:nvPr>
            <p:ph type="sldNum" sz="quarter" idx="12"/>
          </p:nvPr>
        </p:nvSpPr>
        <p:spPr/>
        <p:txBody>
          <a:bodyPr/>
          <a:lstStyle/>
          <a:p>
            <a:fld id="{3E93F177-3B7B-435D-A6BB-89BC232B55C7}" type="slidenum">
              <a:rPr lang="zh-CN" altLang="en-US" smtClean="0"/>
              <a:t>‹#›</a:t>
            </a:fld>
            <a:endParaRPr lang="zh-CN" altLang="en-US"/>
          </a:p>
        </p:txBody>
      </p:sp>
    </p:spTree>
    <p:extLst>
      <p:ext uri="{BB962C8B-B14F-4D97-AF65-F5344CB8AC3E}">
        <p14:creationId xmlns:p14="http://schemas.microsoft.com/office/powerpoint/2010/main" val="1905726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3BBA4F1-B025-5D22-9D9D-67659DD0BDA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BA0EAF-4F72-F775-CF01-3DA65E1FD41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49A3704-A9AA-7C2C-E394-B42EDB1EE0E0}"/>
              </a:ext>
            </a:extLst>
          </p:cNvPr>
          <p:cNvSpPr>
            <a:spLocks noGrp="1"/>
          </p:cNvSpPr>
          <p:nvPr>
            <p:ph type="dt" sz="half" idx="10"/>
          </p:nvPr>
        </p:nvSpPr>
        <p:spPr/>
        <p:txBody>
          <a:bodyPr/>
          <a:lstStyle/>
          <a:p>
            <a:fld id="{521C54C1-5DDD-4858-98AA-7509BDD6E271}" type="datetimeFigureOut">
              <a:rPr lang="zh-CN" altLang="en-US" smtClean="0"/>
              <a:t>2026/4/21</a:t>
            </a:fld>
            <a:endParaRPr lang="zh-CN" altLang="en-US"/>
          </a:p>
        </p:txBody>
      </p:sp>
      <p:sp>
        <p:nvSpPr>
          <p:cNvPr id="5" name="页脚占位符 4">
            <a:extLst>
              <a:ext uri="{FF2B5EF4-FFF2-40B4-BE49-F238E27FC236}">
                <a16:creationId xmlns:a16="http://schemas.microsoft.com/office/drawing/2014/main" id="{94C21ADD-90E8-CB24-8D8F-756689F9DCE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7164AEB-5BC0-0823-9EB0-59E8FC5C9159}"/>
              </a:ext>
            </a:extLst>
          </p:cNvPr>
          <p:cNvSpPr>
            <a:spLocks noGrp="1"/>
          </p:cNvSpPr>
          <p:nvPr>
            <p:ph type="sldNum" sz="quarter" idx="12"/>
          </p:nvPr>
        </p:nvSpPr>
        <p:spPr/>
        <p:txBody>
          <a:bodyPr/>
          <a:lstStyle/>
          <a:p>
            <a:fld id="{3E93F177-3B7B-435D-A6BB-89BC232B55C7}" type="slidenum">
              <a:rPr lang="zh-CN" altLang="en-US" smtClean="0"/>
              <a:t>‹#›</a:t>
            </a:fld>
            <a:endParaRPr lang="zh-CN" altLang="en-US"/>
          </a:p>
        </p:txBody>
      </p:sp>
    </p:spTree>
    <p:extLst>
      <p:ext uri="{BB962C8B-B14F-4D97-AF65-F5344CB8AC3E}">
        <p14:creationId xmlns:p14="http://schemas.microsoft.com/office/powerpoint/2010/main" val="742683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EEA2CA7-301F-351F-A69D-7BEA650303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BCB133C-5CCD-D78A-289D-919B16C7D2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9A8DB90-E592-7925-F5DD-9519ABF6E6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1C54C1-5DDD-4858-98AA-7509BDD6E271}" type="datetimeFigureOut">
              <a:rPr lang="zh-CN" altLang="en-US" smtClean="0"/>
              <a:t>2026/4/21</a:t>
            </a:fld>
            <a:endParaRPr lang="zh-CN" altLang="en-US"/>
          </a:p>
        </p:txBody>
      </p:sp>
      <p:sp>
        <p:nvSpPr>
          <p:cNvPr id="5" name="页脚占位符 4">
            <a:extLst>
              <a:ext uri="{FF2B5EF4-FFF2-40B4-BE49-F238E27FC236}">
                <a16:creationId xmlns:a16="http://schemas.microsoft.com/office/drawing/2014/main" id="{2D0D8376-9916-4D8A-C273-383123D30D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A7B63494-2CC0-1E1F-CA5F-74A8726CE3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93F177-3B7B-435D-A6BB-89BC232B55C7}" type="slidenum">
              <a:rPr lang="zh-CN" altLang="en-US" smtClean="0"/>
              <a:t>‹#›</a:t>
            </a:fld>
            <a:endParaRPr lang="zh-CN" altLang="en-US"/>
          </a:p>
        </p:txBody>
      </p:sp>
    </p:spTree>
    <p:extLst>
      <p:ext uri="{BB962C8B-B14F-4D97-AF65-F5344CB8AC3E}">
        <p14:creationId xmlns:p14="http://schemas.microsoft.com/office/powerpoint/2010/main" val="19848527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B0F6CD-9EBF-ACC7-2E63-38D3CE7F2109}"/>
              </a:ext>
            </a:extLst>
          </p:cNvPr>
          <p:cNvSpPr>
            <a:spLocks noGrp="1"/>
          </p:cNvSpPr>
          <p:nvPr>
            <p:ph type="title"/>
          </p:nvPr>
        </p:nvSpPr>
        <p:spPr/>
        <p:txBody>
          <a:bodyPr/>
          <a:lstStyle/>
          <a:p>
            <a:r>
              <a:rPr lang="en-US" altLang="zh-CN" dirty="0"/>
              <a:t>Core Concepts: Everything is an Object &amp; Message Passing</a:t>
            </a:r>
            <a:endParaRPr lang="zh-CN" altLang="en-US" dirty="0"/>
          </a:p>
        </p:txBody>
      </p:sp>
      <p:sp>
        <p:nvSpPr>
          <p:cNvPr id="3" name="内容占位符 2">
            <a:extLst>
              <a:ext uri="{FF2B5EF4-FFF2-40B4-BE49-F238E27FC236}">
                <a16:creationId xmlns:a16="http://schemas.microsoft.com/office/drawing/2014/main" id="{4CAE6606-C7DE-3860-7DBF-DF4F9BDFD4B5}"/>
              </a:ext>
            </a:extLst>
          </p:cNvPr>
          <p:cNvSpPr>
            <a:spLocks noGrp="1"/>
          </p:cNvSpPr>
          <p:nvPr>
            <p:ph idx="1"/>
          </p:nvPr>
        </p:nvSpPr>
        <p:spPr/>
        <p:txBody>
          <a:bodyPr>
            <a:normAutofit fontScale="92500" lnSpcReduction="10000"/>
          </a:bodyPr>
          <a:lstStyle/>
          <a:p>
            <a:pPr marL="0" indent="0">
              <a:buNone/>
            </a:pPr>
            <a:r>
              <a:rPr lang="en-US" altLang="zh-CN" dirty="0"/>
              <a:t>1. Everything is an Object[2]</a:t>
            </a:r>
          </a:p>
          <a:p>
            <a:pPr marL="0" indent="0">
              <a:buNone/>
            </a:pPr>
            <a:r>
              <a:rPr lang="en-US" altLang="zh-CN" dirty="0"/>
              <a:t>In Smalltalk, every value is an object: integers, Boolean values, nil, classes, even control structures themselves.</a:t>
            </a:r>
          </a:p>
          <a:p>
            <a:pPr marL="0" indent="0">
              <a:buNone/>
            </a:pPr>
            <a:r>
              <a:rPr lang="en-US" altLang="zh-CN" dirty="0"/>
              <a:t>There are no "primitive types" (in Python, int and bool are also objects, but Smalltalk is more pure - even the "if" statement is the result of an object sending a message).</a:t>
            </a:r>
          </a:p>
          <a:p>
            <a:pPr marL="0" indent="0">
              <a:buNone/>
            </a:pPr>
            <a:r>
              <a:rPr lang="en-US" altLang="zh-CN" dirty="0"/>
              <a:t>2. Message Passing</a:t>
            </a:r>
          </a:p>
          <a:p>
            <a:pPr marL="0" indent="0">
              <a:buNone/>
            </a:pPr>
            <a:r>
              <a:rPr lang="en-US" altLang="zh-CN" dirty="0"/>
              <a:t>There are no function calls; only messages are sent to objects. Syntax: Recipient Message Name [Parameters].</a:t>
            </a:r>
          </a:p>
          <a:p>
            <a:pPr marL="0" indent="0">
              <a:buNone/>
            </a:pPr>
            <a:r>
              <a:rPr lang="en-US" altLang="zh-CN" dirty="0"/>
              <a:t>Messages can carry blocks (code blocks) as parameters to implement control flow.</a:t>
            </a:r>
            <a:endParaRPr lang="zh-CN" altLang="en-US" dirty="0"/>
          </a:p>
        </p:txBody>
      </p:sp>
    </p:spTree>
    <p:extLst>
      <p:ext uri="{BB962C8B-B14F-4D97-AF65-F5344CB8AC3E}">
        <p14:creationId xmlns:p14="http://schemas.microsoft.com/office/powerpoint/2010/main" val="1452934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E18924-A277-3A10-674D-3016CA7F7F5A}"/>
              </a:ext>
            </a:extLst>
          </p:cNvPr>
          <p:cNvSpPr>
            <a:spLocks noGrp="1"/>
          </p:cNvSpPr>
          <p:nvPr>
            <p:ph type="title"/>
          </p:nvPr>
        </p:nvSpPr>
        <p:spPr>
          <a:xfrm>
            <a:off x="838200" y="365125"/>
            <a:ext cx="10515600" cy="1396219"/>
          </a:xfrm>
        </p:spPr>
        <p:txBody>
          <a:bodyPr/>
          <a:lstStyle/>
          <a:p>
            <a:r>
              <a:rPr lang="en-US" altLang="zh-CN" dirty="0"/>
              <a:t>Smalltalk vs Python</a:t>
            </a:r>
            <a:br>
              <a:rPr lang="zh-CN" altLang="en-US" b="1" dirty="0"/>
            </a:br>
            <a:endParaRPr lang="zh-CN" altLang="en-US" dirty="0"/>
          </a:p>
        </p:txBody>
      </p:sp>
      <p:pic>
        <p:nvPicPr>
          <p:cNvPr id="5" name="内容占位符 4">
            <a:extLst>
              <a:ext uri="{FF2B5EF4-FFF2-40B4-BE49-F238E27FC236}">
                <a16:creationId xmlns:a16="http://schemas.microsoft.com/office/drawing/2014/main" id="{310C307F-05DC-FD5E-991F-E9687E1AE207}"/>
              </a:ext>
            </a:extLst>
          </p:cNvPr>
          <p:cNvPicPr>
            <a:picLocks noGrp="1" noChangeAspect="1"/>
          </p:cNvPicPr>
          <p:nvPr>
            <p:ph idx="1"/>
          </p:nvPr>
        </p:nvPicPr>
        <p:blipFill>
          <a:blip r:embed="rId2"/>
          <a:stretch>
            <a:fillRect/>
          </a:stretch>
        </p:blipFill>
        <p:spPr>
          <a:xfrm>
            <a:off x="1235439" y="1824085"/>
            <a:ext cx="4243388" cy="4668790"/>
          </a:xfrm>
          <a:prstGeom prst="rect">
            <a:avLst/>
          </a:prstGeom>
        </p:spPr>
      </p:pic>
      <p:sp>
        <p:nvSpPr>
          <p:cNvPr id="6" name="文本框 5">
            <a:extLst>
              <a:ext uri="{FF2B5EF4-FFF2-40B4-BE49-F238E27FC236}">
                <a16:creationId xmlns:a16="http://schemas.microsoft.com/office/drawing/2014/main" id="{453F1B5E-2A43-61D4-F78D-F5085DFA9EF1}"/>
              </a:ext>
            </a:extLst>
          </p:cNvPr>
          <p:cNvSpPr txBox="1"/>
          <p:nvPr/>
        </p:nvSpPr>
        <p:spPr>
          <a:xfrm>
            <a:off x="5966084" y="1824085"/>
            <a:ext cx="4882383" cy="2031325"/>
          </a:xfrm>
          <a:prstGeom prst="rect">
            <a:avLst/>
          </a:prstGeom>
          <a:noFill/>
        </p:spPr>
        <p:txBody>
          <a:bodyPr wrap="square" rtlCol="0">
            <a:spAutoFit/>
          </a:bodyPr>
          <a:lstStyle/>
          <a:p>
            <a:r>
              <a:rPr lang="en-US" altLang="zh-CN" dirty="0"/>
              <a:t>Summary:</a:t>
            </a:r>
          </a:p>
          <a:p>
            <a:r>
              <a:rPr lang="en-US" altLang="zh-CN" dirty="0"/>
              <a:t>Smalltalk: The ultimate pure object-oriented language, all logic is implemented through message passing, with extremely high consistency. Python: Multi-paradigm, retains procedural statements, making it more intuitive for most developers.[4]</a:t>
            </a:r>
            <a:endParaRPr lang="zh-CN" altLang="en-US" dirty="0"/>
          </a:p>
        </p:txBody>
      </p:sp>
    </p:spTree>
    <p:extLst>
      <p:ext uri="{BB962C8B-B14F-4D97-AF65-F5344CB8AC3E}">
        <p14:creationId xmlns:p14="http://schemas.microsoft.com/office/powerpoint/2010/main" val="65815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F5CBF1-BE78-066A-8F6A-48C7FFBD47FF}"/>
              </a:ext>
            </a:extLst>
          </p:cNvPr>
          <p:cNvSpPr>
            <a:spLocks noGrp="1"/>
          </p:cNvSpPr>
          <p:nvPr>
            <p:ph type="title"/>
          </p:nvPr>
        </p:nvSpPr>
        <p:spPr/>
        <p:txBody>
          <a:bodyPr/>
          <a:lstStyle/>
          <a:p>
            <a:r>
              <a:rPr lang="en-US" altLang="zh-CN" dirty="0"/>
              <a:t>Grammatical Differences &amp; The Impact of Smalltalk on Modern Languages</a:t>
            </a:r>
            <a:endParaRPr lang="zh-CN" altLang="en-US" dirty="0"/>
          </a:p>
        </p:txBody>
      </p:sp>
      <p:sp>
        <p:nvSpPr>
          <p:cNvPr id="3" name="内容占位符 2">
            <a:extLst>
              <a:ext uri="{FF2B5EF4-FFF2-40B4-BE49-F238E27FC236}">
                <a16:creationId xmlns:a16="http://schemas.microsoft.com/office/drawing/2014/main" id="{3B20FCBD-5546-DCF5-91D6-67F6E9261BAA}"/>
              </a:ext>
            </a:extLst>
          </p:cNvPr>
          <p:cNvSpPr>
            <a:spLocks noGrp="1"/>
          </p:cNvSpPr>
          <p:nvPr>
            <p:ph idx="1"/>
          </p:nvPr>
        </p:nvSpPr>
        <p:spPr>
          <a:xfrm>
            <a:off x="838200" y="1690687"/>
            <a:ext cx="6566941" cy="4897489"/>
          </a:xfrm>
        </p:spPr>
        <p:txBody>
          <a:bodyPr/>
          <a:lstStyle/>
          <a:p>
            <a:pPr marL="0" indent="0">
              <a:buNone/>
            </a:pPr>
            <a:r>
              <a:rPr lang="en-US" altLang="zh-CN" sz="2000" dirty="0"/>
              <a:t>1. A simple example of the syntax of Smalltalk</a:t>
            </a:r>
          </a:p>
          <a:p>
            <a:pPr marL="0" indent="0">
              <a:buNone/>
            </a:pPr>
            <a:r>
              <a:rPr lang="en-US" altLang="zh-CN" sz="2000" dirty="0"/>
              <a:t>There are almost no keywords: only self, super, true, false, nil, ^ (for returning), and := (for assignment). No type declaration, no function keyword (compared to Python's def). All the code is message expressions without statements.[3]</a:t>
            </a:r>
          </a:p>
          <a:p>
            <a:pPr marL="0" indent="0">
              <a:buNone/>
            </a:pPr>
            <a:r>
              <a:rPr lang="en-US" altLang="zh-CN" sz="2000" dirty="0"/>
              <a:t>2. Define a method: Calculate factorial</a:t>
            </a:r>
          </a:p>
          <a:p>
            <a:pPr marL="0" indent="0">
              <a:buNone/>
            </a:pPr>
            <a:r>
              <a:rPr lang="en-US" altLang="zh-CN" sz="2000" dirty="0"/>
              <a:t>Smalltalk: </a:t>
            </a:r>
          </a:p>
          <a:p>
            <a:pPr marL="0" indent="0">
              <a:buNone/>
            </a:pPr>
            <a:r>
              <a:rPr lang="pt-BR" altLang="zh-CN" sz="2000" dirty="0"/>
              <a:t>factorial: n</a:t>
            </a:r>
          </a:p>
          <a:p>
            <a:pPr marL="0" indent="0">
              <a:buNone/>
            </a:pPr>
            <a:r>
              <a:rPr lang="pt-BR" altLang="zh-CN" sz="2000" dirty="0"/>
              <a:t>    ^ n = 1 ifTrue: [1] ifFalse: [n * (self factorial: n-1)]</a:t>
            </a:r>
          </a:p>
          <a:p>
            <a:pPr marL="0" indent="0">
              <a:buNone/>
            </a:pPr>
            <a:r>
              <a:rPr lang="pt-BR" altLang="zh-CN" sz="2000" dirty="0"/>
              <a:t>Python:</a:t>
            </a:r>
          </a:p>
          <a:p>
            <a:pPr marL="0" indent="0">
              <a:buNone/>
            </a:pPr>
            <a:r>
              <a:rPr lang="pt-BR" altLang="zh-CN" sz="2000" dirty="0"/>
              <a:t>def factorial(n):</a:t>
            </a:r>
          </a:p>
          <a:p>
            <a:pPr marL="0" indent="0">
              <a:buNone/>
            </a:pPr>
            <a:r>
              <a:rPr lang="pt-BR" altLang="zh-CN" sz="2000" dirty="0"/>
              <a:t>    return 1 if n == 1 else n * factorial(n-1)</a:t>
            </a:r>
          </a:p>
          <a:p>
            <a:pPr marL="0" indent="0">
              <a:buNone/>
            </a:pPr>
            <a:endParaRPr lang="pt-BR" altLang="zh-CN" sz="2000" dirty="0"/>
          </a:p>
          <a:p>
            <a:pPr marL="0" indent="0">
              <a:buNone/>
            </a:pPr>
            <a:endParaRPr lang="en-US" altLang="zh-CN" sz="2000" dirty="0"/>
          </a:p>
          <a:p>
            <a:pPr marL="0" indent="0">
              <a:buNone/>
            </a:pPr>
            <a:endParaRPr lang="en-US" altLang="zh-CN" sz="2000" dirty="0"/>
          </a:p>
          <a:p>
            <a:pPr marL="0" indent="0">
              <a:buNone/>
            </a:pPr>
            <a:endParaRPr lang="en-US" altLang="zh-CN" dirty="0"/>
          </a:p>
        </p:txBody>
      </p:sp>
      <p:sp>
        <p:nvSpPr>
          <p:cNvPr id="4" name="文本框 3">
            <a:extLst>
              <a:ext uri="{FF2B5EF4-FFF2-40B4-BE49-F238E27FC236}">
                <a16:creationId xmlns:a16="http://schemas.microsoft.com/office/drawing/2014/main" id="{D363A955-9680-9260-C287-92761FE0DB90}"/>
              </a:ext>
            </a:extLst>
          </p:cNvPr>
          <p:cNvSpPr txBox="1"/>
          <p:nvPr/>
        </p:nvSpPr>
        <p:spPr>
          <a:xfrm>
            <a:off x="7052872" y="3215390"/>
            <a:ext cx="4047345" cy="2308324"/>
          </a:xfrm>
          <a:prstGeom prst="rect">
            <a:avLst/>
          </a:prstGeom>
          <a:noFill/>
        </p:spPr>
        <p:txBody>
          <a:bodyPr wrap="square" rtlCol="0">
            <a:spAutoFit/>
          </a:bodyPr>
          <a:lstStyle/>
          <a:p>
            <a:r>
              <a:rPr lang="en-US" altLang="zh-CN" dirty="0"/>
              <a:t>Summary:</a:t>
            </a:r>
          </a:p>
          <a:p>
            <a:r>
              <a:rPr lang="en-US" altLang="zh-CN" dirty="0"/>
              <a:t>Python was inspired by Smalltalk in many aspects (such as dynamic nature and object model), but for practicality and ease of learning, procedural statements were retained. The "pure message passing" concept of Smalltalk is more fully embodied in Ruby.[1]</a:t>
            </a:r>
            <a:endParaRPr lang="zh-CN" altLang="en-US" dirty="0"/>
          </a:p>
        </p:txBody>
      </p:sp>
    </p:spTree>
    <p:extLst>
      <p:ext uri="{BB962C8B-B14F-4D97-AF65-F5344CB8AC3E}">
        <p14:creationId xmlns:p14="http://schemas.microsoft.com/office/powerpoint/2010/main" val="15163707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9714FF-CF8A-1A26-5C1E-D9159A9F6964}"/>
              </a:ext>
            </a:extLst>
          </p:cNvPr>
          <p:cNvSpPr>
            <a:spLocks noGrp="1"/>
          </p:cNvSpPr>
          <p:nvPr>
            <p:ph type="title"/>
          </p:nvPr>
        </p:nvSpPr>
        <p:spPr/>
        <p:txBody>
          <a:bodyPr/>
          <a:lstStyle/>
          <a:p>
            <a:r>
              <a:rPr lang="en-US" altLang="zh-CN" dirty="0"/>
              <a:t>References</a:t>
            </a:r>
            <a:endParaRPr lang="zh-CN" altLang="en-US" dirty="0"/>
          </a:p>
        </p:txBody>
      </p:sp>
      <p:sp>
        <p:nvSpPr>
          <p:cNvPr id="3" name="内容占位符 2">
            <a:extLst>
              <a:ext uri="{FF2B5EF4-FFF2-40B4-BE49-F238E27FC236}">
                <a16:creationId xmlns:a16="http://schemas.microsoft.com/office/drawing/2014/main" id="{AAB7A33F-4697-2B15-9AAF-86B2B43F3C67}"/>
              </a:ext>
            </a:extLst>
          </p:cNvPr>
          <p:cNvSpPr>
            <a:spLocks noGrp="1"/>
          </p:cNvSpPr>
          <p:nvPr>
            <p:ph idx="1"/>
          </p:nvPr>
        </p:nvSpPr>
        <p:spPr/>
        <p:txBody>
          <a:bodyPr>
            <a:normAutofit fontScale="62500" lnSpcReduction="20000"/>
          </a:bodyPr>
          <a:lstStyle/>
          <a:p>
            <a:r>
              <a:rPr lang="en-US" altLang="zh-CN" dirty="0"/>
              <a:t>[1] A. Kay, </a:t>
            </a:r>
            <a:r>
              <a:rPr lang="zh-CN" altLang="zh-CN" dirty="0"/>
              <a:t>“</a:t>
            </a:r>
            <a:r>
              <a:rPr lang="en-US" altLang="zh-CN" dirty="0"/>
              <a:t>The early history of Smalltalk,</a:t>
            </a:r>
            <a:r>
              <a:rPr lang="zh-CN" altLang="zh-CN" dirty="0"/>
              <a:t>”</a:t>
            </a:r>
            <a:r>
              <a:rPr lang="en-US" altLang="zh-CN" dirty="0"/>
              <a:t> in Proceedings of the second ACM SIGPLAN conference on History of programming languages (HOPL-II), Cambridge, MA, USA, 1993, pp. 69</a:t>
            </a:r>
            <a:r>
              <a:rPr lang="zh-CN" altLang="zh-CN" dirty="0"/>
              <a:t>–</a:t>
            </a:r>
            <a:r>
              <a:rPr lang="en-US" altLang="zh-CN" dirty="0"/>
              <a:t>95. </a:t>
            </a:r>
            <a:endParaRPr lang="zh-CN" altLang="zh-CN" dirty="0"/>
          </a:p>
          <a:p>
            <a:r>
              <a:rPr lang="en-US" altLang="zh-CN" dirty="0"/>
              <a:t>URL: https://dl.acm.org/doi/10.1145/154766.155364</a:t>
            </a:r>
            <a:endParaRPr lang="zh-CN" altLang="zh-CN" dirty="0"/>
          </a:p>
          <a:p>
            <a:r>
              <a:rPr lang="en-US" altLang="zh-CN" dirty="0"/>
              <a:t> </a:t>
            </a:r>
            <a:endParaRPr lang="zh-CN" altLang="zh-CN" dirty="0"/>
          </a:p>
          <a:p>
            <a:r>
              <a:rPr lang="en-US" altLang="zh-CN" dirty="0"/>
              <a:t>[2] D. Ingalls, </a:t>
            </a:r>
            <a:r>
              <a:rPr lang="zh-CN" altLang="zh-CN" dirty="0"/>
              <a:t>“</a:t>
            </a:r>
            <a:r>
              <a:rPr lang="en-US" altLang="zh-CN" dirty="0"/>
              <a:t>Design principles behind Smalltalk,</a:t>
            </a:r>
            <a:r>
              <a:rPr lang="zh-CN" altLang="zh-CN" dirty="0"/>
              <a:t>”</a:t>
            </a:r>
            <a:r>
              <a:rPr lang="en-US" altLang="zh-CN" dirty="0"/>
              <a:t> BYTE Magazine, vol. 6, no. 8, pp. 286</a:t>
            </a:r>
            <a:r>
              <a:rPr lang="zh-CN" altLang="zh-CN" dirty="0"/>
              <a:t>–</a:t>
            </a:r>
            <a:r>
              <a:rPr lang="en-US" altLang="zh-CN" dirty="0"/>
              <a:t>298, Aug. 1981.</a:t>
            </a:r>
            <a:endParaRPr lang="zh-CN" altLang="zh-CN" dirty="0"/>
          </a:p>
          <a:p>
            <a:r>
              <a:rPr lang="en-US" altLang="zh-CN" dirty="0"/>
              <a:t>URL: https://dept.cs.williams.edu/~freund/cs334/static/auxread/smalltalk/smalltalk.html</a:t>
            </a:r>
            <a:endParaRPr lang="zh-CN" altLang="zh-CN" dirty="0"/>
          </a:p>
          <a:p>
            <a:r>
              <a:rPr lang="en-US" altLang="zh-CN" dirty="0"/>
              <a:t> </a:t>
            </a:r>
            <a:endParaRPr lang="zh-CN" altLang="zh-CN" dirty="0"/>
          </a:p>
          <a:p>
            <a:r>
              <a:rPr lang="en-US" altLang="zh-CN" dirty="0"/>
              <a:t>[3] A. Goldberg and D. Robson, Smalltalk-80: The Language and its Implementation. Reading, MA, USA: Addison-Wesley, 1983.</a:t>
            </a:r>
            <a:endParaRPr lang="zh-CN" altLang="zh-CN" dirty="0"/>
          </a:p>
          <a:p>
            <a:r>
              <a:rPr lang="en-US" altLang="zh-CN" dirty="0"/>
              <a:t>https://www.semanticscholar.org/paper/Smalltalk-80%3A-The-Language-and-Its-Implementation-Goldberg-Robson/d097e2d4d0f2d399f8dcffa96f277aad033e2261 </a:t>
            </a:r>
            <a:endParaRPr lang="zh-CN" altLang="zh-CN" dirty="0"/>
          </a:p>
          <a:p>
            <a:r>
              <a:rPr lang="en-US" altLang="zh-CN" dirty="0"/>
              <a:t>[4] S. Ducasse, A. Lienhard, and L. Renggli, </a:t>
            </a:r>
            <a:r>
              <a:rPr lang="zh-CN" altLang="zh-CN" dirty="0"/>
              <a:t>“</a:t>
            </a:r>
            <a:r>
              <a:rPr lang="en-US" altLang="zh-CN" dirty="0"/>
              <a:t>Seaside: A flexible environment for building dynamic web applications,</a:t>
            </a:r>
            <a:r>
              <a:rPr lang="zh-CN" altLang="zh-CN" dirty="0"/>
              <a:t>”</a:t>
            </a:r>
            <a:r>
              <a:rPr lang="en-US" altLang="zh-CN" dirty="0"/>
              <a:t> IEEE Software, vol. 24, no. 5, pp. 56</a:t>
            </a:r>
            <a:r>
              <a:rPr lang="zh-CN" altLang="zh-CN" dirty="0"/>
              <a:t>–</a:t>
            </a:r>
            <a:r>
              <a:rPr lang="en-US" altLang="zh-CN" dirty="0"/>
              <a:t>63, Sep./Oct. 2007.</a:t>
            </a:r>
            <a:endParaRPr lang="zh-CN" altLang="zh-CN" dirty="0"/>
          </a:p>
          <a:p>
            <a:r>
              <a:rPr lang="en-US" altLang="zh-CN" dirty="0"/>
              <a:t>URL: https://ieeexplore.ieee.org/document/4302687</a:t>
            </a:r>
            <a:endParaRPr lang="zh-CN" altLang="zh-CN" dirty="0"/>
          </a:p>
          <a:p>
            <a:endParaRPr lang="zh-CN" altLang="en-US" dirty="0"/>
          </a:p>
        </p:txBody>
      </p:sp>
    </p:spTree>
    <p:extLst>
      <p:ext uri="{BB962C8B-B14F-4D97-AF65-F5344CB8AC3E}">
        <p14:creationId xmlns:p14="http://schemas.microsoft.com/office/powerpoint/2010/main" val="248944258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TotalTime>
  <Words>572</Words>
  <Application>Microsoft Office PowerPoint</Application>
  <PresentationFormat>宽屏</PresentationFormat>
  <Paragraphs>35</Paragraphs>
  <Slides>4</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4</vt:i4>
      </vt:variant>
    </vt:vector>
  </HeadingPairs>
  <TitlesOfParts>
    <vt:vector size="8" baseType="lpstr">
      <vt:lpstr>等线</vt:lpstr>
      <vt:lpstr>等线 Light</vt:lpstr>
      <vt:lpstr>Arial</vt:lpstr>
      <vt:lpstr>Office 主题​​</vt:lpstr>
      <vt:lpstr>Core Concepts: Everything is an Object &amp; Message Passing</vt:lpstr>
      <vt:lpstr>Smalltalk vs Python </vt:lpstr>
      <vt:lpstr>Grammatical Differences &amp; The Impact of Smalltalk on Modern Languages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Wenhao Jiao</dc:creator>
  <cp:lastModifiedBy>Wenhao Jiao</cp:lastModifiedBy>
  <cp:revision>3</cp:revision>
  <dcterms:created xsi:type="dcterms:W3CDTF">2026-04-21T07:53:22Z</dcterms:created>
  <dcterms:modified xsi:type="dcterms:W3CDTF">2026-04-21T11:24:08Z</dcterms:modified>
</cp:coreProperties>
</file>